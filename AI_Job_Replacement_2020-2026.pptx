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963F52-6BE4-45A2-99FF-576374CCDD3A}" type="doc">
      <dgm:prSet loTypeId="urn:microsoft.com/office/officeart/2005/8/layout/hierarchy2" loCatId="hierarchy" qsTypeId="urn:microsoft.com/office/officeart/2005/8/quickstyle/simple1" qsCatId="simple" csTypeId="urn:microsoft.com/office/officeart/2005/8/colors/colorful2" csCatId="colorful" phldr="1"/>
      <dgm:spPr/>
      <dgm:t>
        <a:bodyPr/>
        <a:lstStyle/>
        <a:p>
          <a:endParaRPr lang="en-IN"/>
        </a:p>
      </dgm:t>
    </dgm:pt>
    <dgm:pt modelId="{CE44C2AA-11D0-4A24-BFFC-47F46E9CD652}">
      <dgm:prSet phldrT="[Text]" custT="1"/>
      <dgm:spPr/>
      <dgm:t>
        <a:bodyPr/>
        <a:lstStyle/>
        <a:p>
          <a:pPr algn="just">
            <a:lnSpc>
              <a:spcPct val="150000"/>
            </a:lnSpc>
            <a:buNone/>
          </a:pPr>
          <a:r>
            <a:rPr lang="en-US" sz="2000" dirty="0">
              <a:solidFill>
                <a:schemeClr val="bg1"/>
              </a:solidFill>
              <a:latin typeface="Times New Roman" panose="02020603050405020304" pitchFamily="18" charset="0"/>
              <a:cs typeface="Times New Roman" panose="02020603050405020304" pitchFamily="18" charset="0"/>
            </a:rPr>
            <a:t>As AI adoption accelerates across industries, organizations lack clear visibility into which sectors, job roles, and regions are most exposed to automation risk and widening skill gaps, making workforce planning uncertain and reactive.</a:t>
          </a:r>
          <a:endParaRPr lang="en-IN" sz="2000" dirty="0">
            <a:solidFill>
              <a:schemeClr val="bg1"/>
            </a:solidFill>
            <a:latin typeface="Times New Roman" panose="02020603050405020304" pitchFamily="18" charset="0"/>
            <a:cs typeface="Times New Roman" panose="02020603050405020304" pitchFamily="18" charset="0"/>
          </a:endParaRPr>
        </a:p>
      </dgm:t>
    </dgm:pt>
    <dgm:pt modelId="{390EDED3-0179-45C5-876C-9583C2EE695B}" type="parTrans" cxnId="{C96C3B4A-4DB6-44B1-9967-5B45A5051937}">
      <dgm:prSet/>
      <dgm:spPr/>
      <dgm:t>
        <a:bodyPr/>
        <a:lstStyle/>
        <a:p>
          <a:endParaRPr lang="en-IN"/>
        </a:p>
      </dgm:t>
    </dgm:pt>
    <dgm:pt modelId="{BA95BA20-E176-4DE8-85CD-10448E23EFCC}" type="sibTrans" cxnId="{C96C3B4A-4DB6-44B1-9967-5B45A5051937}">
      <dgm:prSet/>
      <dgm:spPr/>
      <dgm:t>
        <a:bodyPr/>
        <a:lstStyle/>
        <a:p>
          <a:endParaRPr lang="en-IN"/>
        </a:p>
      </dgm:t>
    </dgm:pt>
    <dgm:pt modelId="{2BB962E5-4FB2-4EA5-B400-BF7A623D1952}">
      <dgm:prSet phldrT="[Text]" custT="1"/>
      <dgm:spPr/>
      <dgm:t>
        <a:bodyPr/>
        <a:lstStyle/>
        <a:p>
          <a:pPr algn="just">
            <a:lnSpc>
              <a:spcPct val="150000"/>
            </a:lnSpc>
            <a:buNone/>
          </a:pPr>
          <a:r>
            <a:rPr lang="en-US" sz="2000" dirty="0">
              <a:solidFill>
                <a:schemeClr val="bg1"/>
              </a:solidFill>
              <a:latin typeface="Times New Roman" panose="02020603050405020304" pitchFamily="18" charset="0"/>
              <a:cs typeface="Times New Roman" panose="02020603050405020304" pitchFamily="18" charset="0"/>
            </a:rPr>
            <a:t>There is limited clarity on how automation risk varies across industries and countries, making it difficult to prioritize strategic workforce interventions.</a:t>
          </a:r>
          <a:endParaRPr lang="en-IN" sz="2000" dirty="0">
            <a:solidFill>
              <a:schemeClr val="bg1"/>
            </a:solidFill>
            <a:latin typeface="Times New Roman" panose="02020603050405020304" pitchFamily="18" charset="0"/>
            <a:cs typeface="Times New Roman" panose="02020603050405020304" pitchFamily="18" charset="0"/>
          </a:endParaRPr>
        </a:p>
      </dgm:t>
    </dgm:pt>
    <dgm:pt modelId="{6AD41EF1-2FE7-4C35-87B7-7BD8936AD37A}" type="parTrans" cxnId="{1F9974B0-D0DB-4C03-8001-B3C584795308}">
      <dgm:prSet/>
      <dgm:spPr/>
      <dgm:t>
        <a:bodyPr/>
        <a:lstStyle/>
        <a:p>
          <a:endParaRPr lang="en-IN"/>
        </a:p>
      </dgm:t>
    </dgm:pt>
    <dgm:pt modelId="{CD3C4891-2523-4C4B-9206-C34107302A31}" type="sibTrans" cxnId="{1F9974B0-D0DB-4C03-8001-B3C584795308}">
      <dgm:prSet/>
      <dgm:spPr/>
      <dgm:t>
        <a:bodyPr/>
        <a:lstStyle/>
        <a:p>
          <a:endParaRPr lang="en-IN"/>
        </a:p>
      </dgm:t>
    </dgm:pt>
    <dgm:pt modelId="{0EF7B735-820B-4921-8DEA-A756672FCB7D}">
      <dgm:prSet phldrT="[Text]" custT="1"/>
      <dgm:spPr/>
      <dgm:t>
        <a:bodyPr/>
        <a:lstStyle/>
        <a:p>
          <a:pPr algn="just">
            <a:lnSpc>
              <a:spcPct val="150000"/>
            </a:lnSpc>
            <a:buNone/>
          </a:pPr>
          <a:r>
            <a:rPr lang="en-US" sz="2000" dirty="0">
              <a:solidFill>
                <a:schemeClr val="bg1"/>
              </a:solidFill>
              <a:latin typeface="Times New Roman" panose="02020603050405020304" pitchFamily="18" charset="0"/>
              <a:cs typeface="Times New Roman" panose="02020603050405020304" pitchFamily="18" charset="0"/>
            </a:rPr>
            <a:t>Organizations struggle to identify which job roles face the highest skill gap pressure, increasing the risk of talent shortages and inefficient reskilling investments.</a:t>
          </a:r>
          <a:endParaRPr lang="en-IN" sz="2000" dirty="0">
            <a:solidFill>
              <a:schemeClr val="bg1"/>
            </a:solidFill>
            <a:latin typeface="Times New Roman" panose="02020603050405020304" pitchFamily="18" charset="0"/>
            <a:cs typeface="Times New Roman" panose="02020603050405020304" pitchFamily="18" charset="0"/>
          </a:endParaRPr>
        </a:p>
      </dgm:t>
    </dgm:pt>
    <dgm:pt modelId="{A727458B-351B-4BE1-A4E2-DFFFAC727BE2}" type="parTrans" cxnId="{B170B49E-DFCD-4F01-94F8-844FE04916E1}">
      <dgm:prSet/>
      <dgm:spPr/>
      <dgm:t>
        <a:bodyPr/>
        <a:lstStyle/>
        <a:p>
          <a:endParaRPr lang="en-IN"/>
        </a:p>
      </dgm:t>
    </dgm:pt>
    <dgm:pt modelId="{03CA92B6-8F49-4BD9-B56B-EB04ED13C017}" type="sibTrans" cxnId="{B170B49E-DFCD-4F01-94F8-844FE04916E1}">
      <dgm:prSet/>
      <dgm:spPr/>
      <dgm:t>
        <a:bodyPr/>
        <a:lstStyle/>
        <a:p>
          <a:endParaRPr lang="en-IN"/>
        </a:p>
      </dgm:t>
    </dgm:pt>
    <dgm:pt modelId="{9E164523-C99C-4531-9C65-F9D4FD9560DE}">
      <dgm:prSet custT="1"/>
      <dgm:spPr/>
      <dgm:t>
        <a:bodyPr/>
        <a:lstStyle/>
        <a:p>
          <a:pPr algn="just">
            <a:lnSpc>
              <a:spcPct val="150000"/>
            </a:lnSpc>
            <a:buNone/>
          </a:pPr>
          <a:r>
            <a:rPr lang="en-US" sz="2000" dirty="0">
              <a:solidFill>
                <a:schemeClr val="bg1"/>
              </a:solidFill>
              <a:latin typeface="Times New Roman" panose="02020603050405020304" pitchFamily="18" charset="0"/>
              <a:cs typeface="Times New Roman" panose="02020603050405020304" pitchFamily="18" charset="0"/>
            </a:rPr>
            <a:t>The relationship between automation exposure and salary changes remains ambiguous, raising concerns about whether AI adoption is creating value or amplifying economic disparity.</a:t>
          </a:r>
          <a:endParaRPr lang="en-IN" sz="2000" dirty="0">
            <a:solidFill>
              <a:schemeClr val="bg1"/>
            </a:solidFill>
            <a:latin typeface="Times New Roman" panose="02020603050405020304" pitchFamily="18" charset="0"/>
            <a:cs typeface="Times New Roman" panose="02020603050405020304" pitchFamily="18" charset="0"/>
          </a:endParaRPr>
        </a:p>
      </dgm:t>
    </dgm:pt>
    <dgm:pt modelId="{F2D4E206-1F51-42EF-A219-698DA02A02F5}" type="parTrans" cxnId="{C0BD8E30-17D3-475D-8FEE-75BFFA34DB71}">
      <dgm:prSet/>
      <dgm:spPr/>
      <dgm:t>
        <a:bodyPr/>
        <a:lstStyle/>
        <a:p>
          <a:endParaRPr lang="en-IN"/>
        </a:p>
      </dgm:t>
    </dgm:pt>
    <dgm:pt modelId="{BC12B786-B8DD-4013-9240-B01CC456E503}" type="sibTrans" cxnId="{C0BD8E30-17D3-475D-8FEE-75BFFA34DB71}">
      <dgm:prSet/>
      <dgm:spPr/>
      <dgm:t>
        <a:bodyPr/>
        <a:lstStyle/>
        <a:p>
          <a:endParaRPr lang="en-IN"/>
        </a:p>
      </dgm:t>
    </dgm:pt>
    <dgm:pt modelId="{8230D1F9-AB00-4924-96E9-12367263AA66}" type="pres">
      <dgm:prSet presAssocID="{0F963F52-6BE4-45A2-99FF-576374CCDD3A}" presName="diagram" presStyleCnt="0">
        <dgm:presLayoutVars>
          <dgm:chPref val="1"/>
          <dgm:dir/>
          <dgm:animOne val="branch"/>
          <dgm:animLvl val="lvl"/>
          <dgm:resizeHandles val="exact"/>
        </dgm:presLayoutVars>
      </dgm:prSet>
      <dgm:spPr/>
    </dgm:pt>
    <dgm:pt modelId="{CB9D4789-9DDC-4A6E-BD4D-D5E4AB45A306}" type="pres">
      <dgm:prSet presAssocID="{CE44C2AA-11D0-4A24-BFFC-47F46E9CD652}" presName="root1" presStyleCnt="0"/>
      <dgm:spPr/>
    </dgm:pt>
    <dgm:pt modelId="{B6C07F1A-34A3-4F51-BCDE-E7E82B623A99}" type="pres">
      <dgm:prSet presAssocID="{CE44C2AA-11D0-4A24-BFFC-47F46E9CD652}" presName="LevelOneTextNode" presStyleLbl="node0" presStyleIdx="0" presStyleCnt="1" custScaleX="117679" custScaleY="222681">
        <dgm:presLayoutVars>
          <dgm:chPref val="3"/>
        </dgm:presLayoutVars>
      </dgm:prSet>
      <dgm:spPr/>
    </dgm:pt>
    <dgm:pt modelId="{3368A464-3255-4131-BAAB-77AE4BB2B3C7}" type="pres">
      <dgm:prSet presAssocID="{CE44C2AA-11D0-4A24-BFFC-47F46E9CD652}" presName="level2hierChild" presStyleCnt="0"/>
      <dgm:spPr/>
    </dgm:pt>
    <dgm:pt modelId="{A9FCE81E-EB8A-45EC-8978-40D22DE40D15}" type="pres">
      <dgm:prSet presAssocID="{6AD41EF1-2FE7-4C35-87B7-7BD8936AD37A}" presName="conn2-1" presStyleLbl="parChTrans1D2" presStyleIdx="0" presStyleCnt="3"/>
      <dgm:spPr/>
    </dgm:pt>
    <dgm:pt modelId="{C9F5E945-0666-4949-9DD3-7AF8614E1AE0}" type="pres">
      <dgm:prSet presAssocID="{6AD41EF1-2FE7-4C35-87B7-7BD8936AD37A}" presName="connTx" presStyleLbl="parChTrans1D2" presStyleIdx="0" presStyleCnt="3"/>
      <dgm:spPr/>
    </dgm:pt>
    <dgm:pt modelId="{343F3486-D806-4352-8CDA-E40EEF52557B}" type="pres">
      <dgm:prSet presAssocID="{2BB962E5-4FB2-4EA5-B400-BF7A623D1952}" presName="root2" presStyleCnt="0"/>
      <dgm:spPr/>
    </dgm:pt>
    <dgm:pt modelId="{396683BF-769F-483B-BD21-1034369F4A09}" type="pres">
      <dgm:prSet presAssocID="{2BB962E5-4FB2-4EA5-B400-BF7A623D1952}" presName="LevelTwoTextNode" presStyleLbl="node2" presStyleIdx="0" presStyleCnt="3" custScaleX="181420" custScaleY="112544">
        <dgm:presLayoutVars>
          <dgm:chPref val="3"/>
        </dgm:presLayoutVars>
      </dgm:prSet>
      <dgm:spPr/>
    </dgm:pt>
    <dgm:pt modelId="{7A1F4D15-EE31-441B-9ED4-1652E9C5BABF}" type="pres">
      <dgm:prSet presAssocID="{2BB962E5-4FB2-4EA5-B400-BF7A623D1952}" presName="level3hierChild" presStyleCnt="0"/>
      <dgm:spPr/>
    </dgm:pt>
    <dgm:pt modelId="{8513FFE3-D50A-4012-95B8-87D96EB393A2}" type="pres">
      <dgm:prSet presAssocID="{A727458B-351B-4BE1-A4E2-DFFFAC727BE2}" presName="conn2-1" presStyleLbl="parChTrans1D2" presStyleIdx="1" presStyleCnt="3"/>
      <dgm:spPr/>
    </dgm:pt>
    <dgm:pt modelId="{ABDDDC33-827C-4BAC-9AC7-C301453CD5FD}" type="pres">
      <dgm:prSet presAssocID="{A727458B-351B-4BE1-A4E2-DFFFAC727BE2}" presName="connTx" presStyleLbl="parChTrans1D2" presStyleIdx="1" presStyleCnt="3"/>
      <dgm:spPr/>
    </dgm:pt>
    <dgm:pt modelId="{1ED6FAB4-0742-4EC4-A34C-98BE4BC9E1DD}" type="pres">
      <dgm:prSet presAssocID="{0EF7B735-820B-4921-8DEA-A756672FCB7D}" presName="root2" presStyleCnt="0"/>
      <dgm:spPr/>
    </dgm:pt>
    <dgm:pt modelId="{38D61D71-A0B0-44B4-9A94-D181B09925AA}" type="pres">
      <dgm:prSet presAssocID="{0EF7B735-820B-4921-8DEA-A756672FCB7D}" presName="LevelTwoTextNode" presStyleLbl="node2" presStyleIdx="1" presStyleCnt="3" custScaleX="184335">
        <dgm:presLayoutVars>
          <dgm:chPref val="3"/>
        </dgm:presLayoutVars>
      </dgm:prSet>
      <dgm:spPr/>
    </dgm:pt>
    <dgm:pt modelId="{DB070671-6E46-48E9-A9B8-290E315CDF88}" type="pres">
      <dgm:prSet presAssocID="{0EF7B735-820B-4921-8DEA-A756672FCB7D}" presName="level3hierChild" presStyleCnt="0"/>
      <dgm:spPr/>
    </dgm:pt>
    <dgm:pt modelId="{449782BF-80AB-4F6B-8D15-4188373B442C}" type="pres">
      <dgm:prSet presAssocID="{F2D4E206-1F51-42EF-A219-698DA02A02F5}" presName="conn2-1" presStyleLbl="parChTrans1D2" presStyleIdx="2" presStyleCnt="3"/>
      <dgm:spPr/>
    </dgm:pt>
    <dgm:pt modelId="{144C0F6D-D9FD-44D0-8304-CF49EB918F71}" type="pres">
      <dgm:prSet presAssocID="{F2D4E206-1F51-42EF-A219-698DA02A02F5}" presName="connTx" presStyleLbl="parChTrans1D2" presStyleIdx="2" presStyleCnt="3"/>
      <dgm:spPr/>
    </dgm:pt>
    <dgm:pt modelId="{7050D1E6-8FB0-4ADE-AA4D-F871AA7BF0BA}" type="pres">
      <dgm:prSet presAssocID="{9E164523-C99C-4531-9C65-F9D4FD9560DE}" presName="root2" presStyleCnt="0"/>
      <dgm:spPr/>
    </dgm:pt>
    <dgm:pt modelId="{204DEA9C-4EE5-4083-9832-5B33A845D0EA}" type="pres">
      <dgm:prSet presAssocID="{9E164523-C99C-4531-9C65-F9D4FD9560DE}" presName="LevelTwoTextNode" presStyleLbl="node2" presStyleIdx="2" presStyleCnt="3" custScaleX="181926" custScaleY="129057">
        <dgm:presLayoutVars>
          <dgm:chPref val="3"/>
        </dgm:presLayoutVars>
      </dgm:prSet>
      <dgm:spPr/>
    </dgm:pt>
    <dgm:pt modelId="{9AAB3C07-C2E5-4EF6-ACBF-BF8CA513EFCF}" type="pres">
      <dgm:prSet presAssocID="{9E164523-C99C-4531-9C65-F9D4FD9560DE}" presName="level3hierChild" presStyleCnt="0"/>
      <dgm:spPr/>
    </dgm:pt>
  </dgm:ptLst>
  <dgm:cxnLst>
    <dgm:cxn modelId="{7C20E122-7CCB-4BD2-95F0-549D7DAE965A}" type="presOf" srcId="{9E164523-C99C-4531-9C65-F9D4FD9560DE}" destId="{204DEA9C-4EE5-4083-9832-5B33A845D0EA}" srcOrd="0" destOrd="0" presId="urn:microsoft.com/office/officeart/2005/8/layout/hierarchy2"/>
    <dgm:cxn modelId="{C569EE2D-7A05-40B6-AFDD-FF80C37CAA70}" type="presOf" srcId="{6AD41EF1-2FE7-4C35-87B7-7BD8936AD37A}" destId="{A9FCE81E-EB8A-45EC-8978-40D22DE40D15}" srcOrd="0" destOrd="0" presId="urn:microsoft.com/office/officeart/2005/8/layout/hierarchy2"/>
    <dgm:cxn modelId="{9A59E92F-B2CA-43ED-9536-DA6A70DA5C8E}" type="presOf" srcId="{0EF7B735-820B-4921-8DEA-A756672FCB7D}" destId="{38D61D71-A0B0-44B4-9A94-D181B09925AA}" srcOrd="0" destOrd="0" presId="urn:microsoft.com/office/officeart/2005/8/layout/hierarchy2"/>
    <dgm:cxn modelId="{C0BD8E30-17D3-475D-8FEE-75BFFA34DB71}" srcId="{CE44C2AA-11D0-4A24-BFFC-47F46E9CD652}" destId="{9E164523-C99C-4531-9C65-F9D4FD9560DE}" srcOrd="2" destOrd="0" parTransId="{F2D4E206-1F51-42EF-A219-698DA02A02F5}" sibTransId="{BC12B786-B8DD-4013-9240-B01CC456E503}"/>
    <dgm:cxn modelId="{E9907237-4632-4E94-83FF-9A1AB67AF960}" type="presOf" srcId="{A727458B-351B-4BE1-A4E2-DFFFAC727BE2}" destId="{8513FFE3-D50A-4012-95B8-87D96EB393A2}" srcOrd="0" destOrd="0" presId="urn:microsoft.com/office/officeart/2005/8/layout/hierarchy2"/>
    <dgm:cxn modelId="{88283D64-F72E-4978-84A8-A557F9B931A8}" type="presOf" srcId="{CE44C2AA-11D0-4A24-BFFC-47F46E9CD652}" destId="{B6C07F1A-34A3-4F51-BCDE-E7E82B623A99}" srcOrd="0" destOrd="0" presId="urn:microsoft.com/office/officeart/2005/8/layout/hierarchy2"/>
    <dgm:cxn modelId="{7F43A549-621B-48F0-BB68-499BF6AC9CFD}" type="presOf" srcId="{2BB962E5-4FB2-4EA5-B400-BF7A623D1952}" destId="{396683BF-769F-483B-BD21-1034369F4A09}" srcOrd="0" destOrd="0" presId="urn:microsoft.com/office/officeart/2005/8/layout/hierarchy2"/>
    <dgm:cxn modelId="{C96C3B4A-4DB6-44B1-9967-5B45A5051937}" srcId="{0F963F52-6BE4-45A2-99FF-576374CCDD3A}" destId="{CE44C2AA-11D0-4A24-BFFC-47F46E9CD652}" srcOrd="0" destOrd="0" parTransId="{390EDED3-0179-45C5-876C-9583C2EE695B}" sibTransId="{BA95BA20-E176-4DE8-85CD-10448E23EFCC}"/>
    <dgm:cxn modelId="{B170B49E-DFCD-4F01-94F8-844FE04916E1}" srcId="{CE44C2AA-11D0-4A24-BFFC-47F46E9CD652}" destId="{0EF7B735-820B-4921-8DEA-A756672FCB7D}" srcOrd="1" destOrd="0" parTransId="{A727458B-351B-4BE1-A4E2-DFFFAC727BE2}" sibTransId="{03CA92B6-8F49-4BD9-B56B-EB04ED13C017}"/>
    <dgm:cxn modelId="{CD3FBDA4-11A3-4F05-9028-AE3F5FC9DC0C}" type="presOf" srcId="{6AD41EF1-2FE7-4C35-87B7-7BD8936AD37A}" destId="{C9F5E945-0666-4949-9DD3-7AF8614E1AE0}" srcOrd="1" destOrd="0" presId="urn:microsoft.com/office/officeart/2005/8/layout/hierarchy2"/>
    <dgm:cxn modelId="{1F9974B0-D0DB-4C03-8001-B3C584795308}" srcId="{CE44C2AA-11D0-4A24-BFFC-47F46E9CD652}" destId="{2BB962E5-4FB2-4EA5-B400-BF7A623D1952}" srcOrd="0" destOrd="0" parTransId="{6AD41EF1-2FE7-4C35-87B7-7BD8936AD37A}" sibTransId="{CD3C4891-2523-4C4B-9206-C34107302A31}"/>
    <dgm:cxn modelId="{9C6EBEB5-CFD6-497D-9563-BEABFFFC605A}" type="presOf" srcId="{F2D4E206-1F51-42EF-A219-698DA02A02F5}" destId="{449782BF-80AB-4F6B-8D15-4188373B442C}" srcOrd="0" destOrd="0" presId="urn:microsoft.com/office/officeart/2005/8/layout/hierarchy2"/>
    <dgm:cxn modelId="{AD0516BB-B537-4B9F-8284-08E55196B811}" type="presOf" srcId="{0F963F52-6BE4-45A2-99FF-576374CCDD3A}" destId="{8230D1F9-AB00-4924-96E9-12367263AA66}" srcOrd="0" destOrd="0" presId="urn:microsoft.com/office/officeart/2005/8/layout/hierarchy2"/>
    <dgm:cxn modelId="{323E4EBB-330B-446C-98F1-19BCBEF81A2D}" type="presOf" srcId="{A727458B-351B-4BE1-A4E2-DFFFAC727BE2}" destId="{ABDDDC33-827C-4BAC-9AC7-C301453CD5FD}" srcOrd="1" destOrd="0" presId="urn:microsoft.com/office/officeart/2005/8/layout/hierarchy2"/>
    <dgm:cxn modelId="{11234DE9-8FF7-49D4-A31B-DB5662313A9D}" type="presOf" srcId="{F2D4E206-1F51-42EF-A219-698DA02A02F5}" destId="{144C0F6D-D9FD-44D0-8304-CF49EB918F71}" srcOrd="1" destOrd="0" presId="urn:microsoft.com/office/officeart/2005/8/layout/hierarchy2"/>
    <dgm:cxn modelId="{6ECFB454-B0A1-4E93-82E6-E45ABFD524DE}" type="presParOf" srcId="{8230D1F9-AB00-4924-96E9-12367263AA66}" destId="{CB9D4789-9DDC-4A6E-BD4D-D5E4AB45A306}" srcOrd="0" destOrd="0" presId="urn:microsoft.com/office/officeart/2005/8/layout/hierarchy2"/>
    <dgm:cxn modelId="{2D28E5EC-FE99-4F60-B117-484281A278C0}" type="presParOf" srcId="{CB9D4789-9DDC-4A6E-BD4D-D5E4AB45A306}" destId="{B6C07F1A-34A3-4F51-BCDE-E7E82B623A99}" srcOrd="0" destOrd="0" presId="urn:microsoft.com/office/officeart/2005/8/layout/hierarchy2"/>
    <dgm:cxn modelId="{FF302220-E276-4B75-8054-1C556EE64F26}" type="presParOf" srcId="{CB9D4789-9DDC-4A6E-BD4D-D5E4AB45A306}" destId="{3368A464-3255-4131-BAAB-77AE4BB2B3C7}" srcOrd="1" destOrd="0" presId="urn:microsoft.com/office/officeart/2005/8/layout/hierarchy2"/>
    <dgm:cxn modelId="{15782F3F-45A4-42DC-AE31-463CB54E87A2}" type="presParOf" srcId="{3368A464-3255-4131-BAAB-77AE4BB2B3C7}" destId="{A9FCE81E-EB8A-45EC-8978-40D22DE40D15}" srcOrd="0" destOrd="0" presId="urn:microsoft.com/office/officeart/2005/8/layout/hierarchy2"/>
    <dgm:cxn modelId="{9C7B1494-B75B-4A0A-B2BA-A2E2C1B2D549}" type="presParOf" srcId="{A9FCE81E-EB8A-45EC-8978-40D22DE40D15}" destId="{C9F5E945-0666-4949-9DD3-7AF8614E1AE0}" srcOrd="0" destOrd="0" presId="urn:microsoft.com/office/officeart/2005/8/layout/hierarchy2"/>
    <dgm:cxn modelId="{21CE7A9B-6DBD-4F4B-8DF0-6B36027514E4}" type="presParOf" srcId="{3368A464-3255-4131-BAAB-77AE4BB2B3C7}" destId="{343F3486-D806-4352-8CDA-E40EEF52557B}" srcOrd="1" destOrd="0" presId="urn:microsoft.com/office/officeart/2005/8/layout/hierarchy2"/>
    <dgm:cxn modelId="{09FAB3E7-810A-4A0C-8807-725C39FE4809}" type="presParOf" srcId="{343F3486-D806-4352-8CDA-E40EEF52557B}" destId="{396683BF-769F-483B-BD21-1034369F4A09}" srcOrd="0" destOrd="0" presId="urn:microsoft.com/office/officeart/2005/8/layout/hierarchy2"/>
    <dgm:cxn modelId="{110FB414-3BC3-4473-B0F2-A239681E6568}" type="presParOf" srcId="{343F3486-D806-4352-8CDA-E40EEF52557B}" destId="{7A1F4D15-EE31-441B-9ED4-1652E9C5BABF}" srcOrd="1" destOrd="0" presId="urn:microsoft.com/office/officeart/2005/8/layout/hierarchy2"/>
    <dgm:cxn modelId="{366B4595-52D1-4A10-96F5-C8AB0654479A}" type="presParOf" srcId="{3368A464-3255-4131-BAAB-77AE4BB2B3C7}" destId="{8513FFE3-D50A-4012-95B8-87D96EB393A2}" srcOrd="2" destOrd="0" presId="urn:microsoft.com/office/officeart/2005/8/layout/hierarchy2"/>
    <dgm:cxn modelId="{349CD974-F4EB-479D-A02C-A0ED36A470A7}" type="presParOf" srcId="{8513FFE3-D50A-4012-95B8-87D96EB393A2}" destId="{ABDDDC33-827C-4BAC-9AC7-C301453CD5FD}" srcOrd="0" destOrd="0" presId="urn:microsoft.com/office/officeart/2005/8/layout/hierarchy2"/>
    <dgm:cxn modelId="{432644A7-82B5-48F8-BA3E-590735D898C2}" type="presParOf" srcId="{3368A464-3255-4131-BAAB-77AE4BB2B3C7}" destId="{1ED6FAB4-0742-4EC4-A34C-98BE4BC9E1DD}" srcOrd="3" destOrd="0" presId="urn:microsoft.com/office/officeart/2005/8/layout/hierarchy2"/>
    <dgm:cxn modelId="{3A84964B-FE79-4BF0-9E66-F7E96ECF4744}" type="presParOf" srcId="{1ED6FAB4-0742-4EC4-A34C-98BE4BC9E1DD}" destId="{38D61D71-A0B0-44B4-9A94-D181B09925AA}" srcOrd="0" destOrd="0" presId="urn:microsoft.com/office/officeart/2005/8/layout/hierarchy2"/>
    <dgm:cxn modelId="{6F519F56-3551-4CD3-A72F-4ED21DF5038C}" type="presParOf" srcId="{1ED6FAB4-0742-4EC4-A34C-98BE4BC9E1DD}" destId="{DB070671-6E46-48E9-A9B8-290E315CDF88}" srcOrd="1" destOrd="0" presId="urn:microsoft.com/office/officeart/2005/8/layout/hierarchy2"/>
    <dgm:cxn modelId="{C81E93D3-339A-41C1-91D4-263CAC8EF314}" type="presParOf" srcId="{3368A464-3255-4131-BAAB-77AE4BB2B3C7}" destId="{449782BF-80AB-4F6B-8D15-4188373B442C}" srcOrd="4" destOrd="0" presId="urn:microsoft.com/office/officeart/2005/8/layout/hierarchy2"/>
    <dgm:cxn modelId="{04D69DA1-EFEE-4964-BF12-36B0EAD0CD23}" type="presParOf" srcId="{449782BF-80AB-4F6B-8D15-4188373B442C}" destId="{144C0F6D-D9FD-44D0-8304-CF49EB918F71}" srcOrd="0" destOrd="0" presId="urn:microsoft.com/office/officeart/2005/8/layout/hierarchy2"/>
    <dgm:cxn modelId="{722EE9AC-1DCB-4EAB-B0E8-CE3C132E776E}" type="presParOf" srcId="{3368A464-3255-4131-BAAB-77AE4BB2B3C7}" destId="{7050D1E6-8FB0-4ADE-AA4D-F871AA7BF0BA}" srcOrd="5" destOrd="0" presId="urn:microsoft.com/office/officeart/2005/8/layout/hierarchy2"/>
    <dgm:cxn modelId="{64AA68C9-3A3B-45B7-AA79-8CE66AF6C689}" type="presParOf" srcId="{7050D1E6-8FB0-4ADE-AA4D-F871AA7BF0BA}" destId="{204DEA9C-4EE5-4083-9832-5B33A845D0EA}" srcOrd="0" destOrd="0" presId="urn:microsoft.com/office/officeart/2005/8/layout/hierarchy2"/>
    <dgm:cxn modelId="{93AD55DE-827B-46FF-BBA3-8F7D4D6E81C7}" type="presParOf" srcId="{7050D1E6-8FB0-4ADE-AA4D-F871AA7BF0BA}" destId="{9AAB3C07-C2E5-4EF6-ACBF-BF8CA513EFCF}"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6A0B49E-6CCD-4BE1-87E2-3B1AEEEDDF98}"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IN"/>
        </a:p>
      </dgm:t>
    </dgm:pt>
    <dgm:pt modelId="{35548967-61F8-4645-870B-6394C3D4DF64}">
      <dgm:prSet phldrT="[Text]" custT="1"/>
      <dgm:spPr/>
      <dgm:t>
        <a:bodyPr/>
        <a:lstStyle/>
        <a:p>
          <a:pPr algn="just">
            <a:lnSpc>
              <a:spcPct val="150000"/>
            </a:lnSpc>
            <a:buNone/>
          </a:pPr>
          <a:r>
            <a:rPr lang="en-US" sz="2000" dirty="0">
              <a:solidFill>
                <a:schemeClr val="bg1"/>
              </a:solidFill>
              <a:latin typeface="Times New Roman" panose="02020603050405020304" pitchFamily="18" charset="0"/>
              <a:cs typeface="Times New Roman" panose="02020603050405020304" pitchFamily="18" charset="0"/>
            </a:rPr>
            <a:t>It is recommended to implement reskilling initiatives that directly address workforce skill gaps, ensuring employees remain relevant in evolving roles. </a:t>
          </a:r>
          <a:endParaRPr lang="en-IN" sz="2000" dirty="0">
            <a:solidFill>
              <a:schemeClr val="bg1"/>
            </a:solidFill>
            <a:latin typeface="Times New Roman" panose="02020603050405020304" pitchFamily="18" charset="0"/>
            <a:cs typeface="Times New Roman" panose="02020603050405020304" pitchFamily="18" charset="0"/>
          </a:endParaRPr>
        </a:p>
      </dgm:t>
    </dgm:pt>
    <dgm:pt modelId="{904A4271-6757-4F3E-A47A-C1F103105149}" type="parTrans" cxnId="{D596AD17-84AC-43EC-9F6A-1073072900FE}">
      <dgm:prSet/>
      <dgm:spPr/>
      <dgm:t>
        <a:bodyPr/>
        <a:lstStyle/>
        <a:p>
          <a:endParaRPr lang="en-IN"/>
        </a:p>
      </dgm:t>
    </dgm:pt>
    <dgm:pt modelId="{0A5EA86F-A927-4C04-8E3B-19CAABF8E176}" type="sibTrans" cxnId="{D596AD17-84AC-43EC-9F6A-1073072900FE}">
      <dgm:prSet/>
      <dgm:spPr/>
      <dgm:t>
        <a:bodyPr/>
        <a:lstStyle/>
        <a:p>
          <a:endParaRPr lang="en-IN"/>
        </a:p>
      </dgm:t>
    </dgm:pt>
    <dgm:pt modelId="{4340487F-216C-433E-B658-800B907FC92C}">
      <dgm:prSet phldrT="[Text]" custT="1"/>
      <dgm:spPr/>
      <dgm:t>
        <a:bodyPr/>
        <a:lstStyle/>
        <a:p>
          <a:pPr algn="just">
            <a:lnSpc>
              <a:spcPct val="150000"/>
            </a:lnSpc>
            <a:buNone/>
          </a:pPr>
          <a:r>
            <a:rPr lang="en-US" sz="2000" dirty="0">
              <a:solidFill>
                <a:schemeClr val="bg1"/>
              </a:solidFill>
              <a:latin typeface="Times New Roman" panose="02020603050405020304" pitchFamily="18" charset="0"/>
              <a:cs typeface="Times New Roman" panose="02020603050405020304" pitchFamily="18" charset="0"/>
            </a:rPr>
            <a:t>It is suggested to promote continuous learning frameworks across industries, enabling adaptability as automation reshapes job requirements. </a:t>
          </a:r>
          <a:endParaRPr lang="en-IN" sz="2000" dirty="0">
            <a:solidFill>
              <a:schemeClr val="bg1"/>
            </a:solidFill>
            <a:latin typeface="Times New Roman" panose="02020603050405020304" pitchFamily="18" charset="0"/>
            <a:cs typeface="Times New Roman" panose="02020603050405020304" pitchFamily="18" charset="0"/>
          </a:endParaRPr>
        </a:p>
      </dgm:t>
    </dgm:pt>
    <dgm:pt modelId="{6B2898E4-7284-4E15-B7B9-B500F74DD350}" type="parTrans" cxnId="{B5B9F109-E8E8-4651-B27B-E3E24D9697DE}">
      <dgm:prSet/>
      <dgm:spPr/>
      <dgm:t>
        <a:bodyPr/>
        <a:lstStyle/>
        <a:p>
          <a:endParaRPr lang="en-IN"/>
        </a:p>
      </dgm:t>
    </dgm:pt>
    <dgm:pt modelId="{77D8EE2E-464C-4119-987A-0CADD0C119FD}" type="sibTrans" cxnId="{B5B9F109-E8E8-4651-B27B-E3E24D9697DE}">
      <dgm:prSet/>
      <dgm:spPr/>
      <dgm:t>
        <a:bodyPr/>
        <a:lstStyle/>
        <a:p>
          <a:endParaRPr lang="en-IN"/>
        </a:p>
      </dgm:t>
    </dgm:pt>
    <dgm:pt modelId="{189997DB-0208-48FE-AEA8-D9CD173F60F8}">
      <dgm:prSet phldrT="[Text]" custT="1"/>
      <dgm:spPr/>
      <dgm:t>
        <a:bodyPr/>
        <a:lstStyle/>
        <a:p>
          <a:pPr algn="just">
            <a:lnSpc>
              <a:spcPct val="150000"/>
            </a:lnSpc>
            <a:buNone/>
          </a:pPr>
          <a:r>
            <a:rPr lang="en-US" sz="2000" dirty="0">
              <a:solidFill>
                <a:schemeClr val="bg1"/>
              </a:solidFill>
              <a:latin typeface="Times New Roman" panose="02020603050405020304" pitchFamily="18" charset="0"/>
              <a:cs typeface="Times New Roman" panose="02020603050405020304" pitchFamily="18" charset="0"/>
            </a:rPr>
            <a:t>It is endorsed to design sector-specific strategies that balance automation adoption with human expertise, safeguarding productivity and resilience. </a:t>
          </a:r>
          <a:endParaRPr lang="en-IN" sz="2000" dirty="0">
            <a:solidFill>
              <a:schemeClr val="bg1"/>
            </a:solidFill>
            <a:latin typeface="Times New Roman" panose="02020603050405020304" pitchFamily="18" charset="0"/>
            <a:cs typeface="Times New Roman" panose="02020603050405020304" pitchFamily="18" charset="0"/>
          </a:endParaRPr>
        </a:p>
      </dgm:t>
    </dgm:pt>
    <dgm:pt modelId="{E439DD7F-A451-4946-A592-E5415B9FB5C4}" type="parTrans" cxnId="{C9C53601-9466-4F8E-A681-749870CA6A59}">
      <dgm:prSet/>
      <dgm:spPr/>
      <dgm:t>
        <a:bodyPr/>
        <a:lstStyle/>
        <a:p>
          <a:endParaRPr lang="en-IN"/>
        </a:p>
      </dgm:t>
    </dgm:pt>
    <dgm:pt modelId="{FCCD408B-CA15-4498-B8E0-E65B17B2B9A2}" type="sibTrans" cxnId="{C9C53601-9466-4F8E-A681-749870CA6A59}">
      <dgm:prSet/>
      <dgm:spPr/>
      <dgm:t>
        <a:bodyPr/>
        <a:lstStyle/>
        <a:p>
          <a:endParaRPr lang="en-IN"/>
        </a:p>
      </dgm:t>
    </dgm:pt>
    <dgm:pt modelId="{FCEEFFF6-FA61-4A81-81AC-20AA96ECD98A}" type="pres">
      <dgm:prSet presAssocID="{96A0B49E-6CCD-4BE1-87E2-3B1AEEEDDF98}" presName="linear" presStyleCnt="0">
        <dgm:presLayoutVars>
          <dgm:dir/>
          <dgm:animLvl val="lvl"/>
          <dgm:resizeHandles val="exact"/>
        </dgm:presLayoutVars>
      </dgm:prSet>
      <dgm:spPr/>
    </dgm:pt>
    <dgm:pt modelId="{A33662D3-710F-426A-B0D8-D8EF02A637E2}" type="pres">
      <dgm:prSet presAssocID="{35548967-61F8-4645-870B-6394C3D4DF64}" presName="parentLin" presStyleCnt="0"/>
      <dgm:spPr/>
    </dgm:pt>
    <dgm:pt modelId="{94184A66-2F65-421F-B612-CF2D91CD861F}" type="pres">
      <dgm:prSet presAssocID="{35548967-61F8-4645-870B-6394C3D4DF64}" presName="parentLeftMargin" presStyleLbl="node1" presStyleIdx="0" presStyleCnt="3"/>
      <dgm:spPr/>
    </dgm:pt>
    <dgm:pt modelId="{2D115AF3-0A56-4555-B181-D062B8388463}" type="pres">
      <dgm:prSet presAssocID="{35548967-61F8-4645-870B-6394C3D4DF64}" presName="parentText" presStyleLbl="node1" presStyleIdx="0" presStyleCnt="3" custScaleX="118301">
        <dgm:presLayoutVars>
          <dgm:chMax val="0"/>
          <dgm:bulletEnabled val="1"/>
        </dgm:presLayoutVars>
      </dgm:prSet>
      <dgm:spPr/>
    </dgm:pt>
    <dgm:pt modelId="{6673D62C-3246-497E-A905-D15AFF8355AC}" type="pres">
      <dgm:prSet presAssocID="{35548967-61F8-4645-870B-6394C3D4DF64}" presName="negativeSpace" presStyleCnt="0"/>
      <dgm:spPr/>
    </dgm:pt>
    <dgm:pt modelId="{C958B601-E0CE-49F3-98F0-01DF08FEE53A}" type="pres">
      <dgm:prSet presAssocID="{35548967-61F8-4645-870B-6394C3D4DF64}" presName="childText" presStyleLbl="conFgAcc1" presStyleIdx="0" presStyleCnt="3">
        <dgm:presLayoutVars>
          <dgm:bulletEnabled val="1"/>
        </dgm:presLayoutVars>
      </dgm:prSet>
      <dgm:spPr/>
    </dgm:pt>
    <dgm:pt modelId="{E85865D0-1FF9-4466-95F6-6F07DCDB3C3A}" type="pres">
      <dgm:prSet presAssocID="{0A5EA86F-A927-4C04-8E3B-19CAABF8E176}" presName="spaceBetweenRectangles" presStyleCnt="0"/>
      <dgm:spPr/>
    </dgm:pt>
    <dgm:pt modelId="{F8BAEB1B-BFA2-4E77-9985-6F9B06639395}" type="pres">
      <dgm:prSet presAssocID="{4340487F-216C-433E-B658-800B907FC92C}" presName="parentLin" presStyleCnt="0"/>
      <dgm:spPr/>
    </dgm:pt>
    <dgm:pt modelId="{1A8152A6-96EA-499C-90D7-642981EF5B1C}" type="pres">
      <dgm:prSet presAssocID="{4340487F-216C-433E-B658-800B907FC92C}" presName="parentLeftMargin" presStyleLbl="node1" presStyleIdx="0" presStyleCnt="3"/>
      <dgm:spPr/>
    </dgm:pt>
    <dgm:pt modelId="{E21CFC8D-3ACB-41FA-A73E-5BE3B00C76A2}" type="pres">
      <dgm:prSet presAssocID="{4340487F-216C-433E-B658-800B907FC92C}" presName="parentText" presStyleLbl="node1" presStyleIdx="1" presStyleCnt="3" custScaleX="119770">
        <dgm:presLayoutVars>
          <dgm:chMax val="0"/>
          <dgm:bulletEnabled val="1"/>
        </dgm:presLayoutVars>
      </dgm:prSet>
      <dgm:spPr/>
    </dgm:pt>
    <dgm:pt modelId="{C8789D39-17B0-42CB-9583-42AF0F6D44C9}" type="pres">
      <dgm:prSet presAssocID="{4340487F-216C-433E-B658-800B907FC92C}" presName="negativeSpace" presStyleCnt="0"/>
      <dgm:spPr/>
    </dgm:pt>
    <dgm:pt modelId="{EC697FA1-5C7B-44D3-9D4F-C5E84B7129A3}" type="pres">
      <dgm:prSet presAssocID="{4340487F-216C-433E-B658-800B907FC92C}" presName="childText" presStyleLbl="conFgAcc1" presStyleIdx="1" presStyleCnt="3">
        <dgm:presLayoutVars>
          <dgm:bulletEnabled val="1"/>
        </dgm:presLayoutVars>
      </dgm:prSet>
      <dgm:spPr/>
    </dgm:pt>
    <dgm:pt modelId="{39B76882-6360-4FE5-A8EE-F329AAEE104B}" type="pres">
      <dgm:prSet presAssocID="{77D8EE2E-464C-4119-987A-0CADD0C119FD}" presName="spaceBetweenRectangles" presStyleCnt="0"/>
      <dgm:spPr/>
    </dgm:pt>
    <dgm:pt modelId="{A90C6FEE-A5F0-49DC-84E0-A812FE7CCF0A}" type="pres">
      <dgm:prSet presAssocID="{189997DB-0208-48FE-AEA8-D9CD173F60F8}" presName="parentLin" presStyleCnt="0"/>
      <dgm:spPr/>
    </dgm:pt>
    <dgm:pt modelId="{2CD24147-2D09-414A-875F-7B45176BE883}" type="pres">
      <dgm:prSet presAssocID="{189997DB-0208-48FE-AEA8-D9CD173F60F8}" presName="parentLeftMargin" presStyleLbl="node1" presStyleIdx="1" presStyleCnt="3"/>
      <dgm:spPr/>
    </dgm:pt>
    <dgm:pt modelId="{3FBCC76B-5E4E-497F-BFD4-2DDA974D52A9}" type="pres">
      <dgm:prSet presAssocID="{189997DB-0208-48FE-AEA8-D9CD173F60F8}" presName="parentText" presStyleLbl="node1" presStyleIdx="2" presStyleCnt="3" custScaleX="123933">
        <dgm:presLayoutVars>
          <dgm:chMax val="0"/>
          <dgm:bulletEnabled val="1"/>
        </dgm:presLayoutVars>
      </dgm:prSet>
      <dgm:spPr/>
    </dgm:pt>
    <dgm:pt modelId="{DEE01875-72BB-4EA3-9D20-536E64DE6A3B}" type="pres">
      <dgm:prSet presAssocID="{189997DB-0208-48FE-AEA8-D9CD173F60F8}" presName="negativeSpace" presStyleCnt="0"/>
      <dgm:spPr/>
    </dgm:pt>
    <dgm:pt modelId="{7B47E240-F339-4A6D-B175-BFAB0AAA0073}" type="pres">
      <dgm:prSet presAssocID="{189997DB-0208-48FE-AEA8-D9CD173F60F8}" presName="childText" presStyleLbl="conFgAcc1" presStyleIdx="2" presStyleCnt="3">
        <dgm:presLayoutVars>
          <dgm:bulletEnabled val="1"/>
        </dgm:presLayoutVars>
      </dgm:prSet>
      <dgm:spPr/>
    </dgm:pt>
  </dgm:ptLst>
  <dgm:cxnLst>
    <dgm:cxn modelId="{C9C53601-9466-4F8E-A681-749870CA6A59}" srcId="{96A0B49E-6CCD-4BE1-87E2-3B1AEEEDDF98}" destId="{189997DB-0208-48FE-AEA8-D9CD173F60F8}" srcOrd="2" destOrd="0" parTransId="{E439DD7F-A451-4946-A592-E5415B9FB5C4}" sibTransId="{FCCD408B-CA15-4498-B8E0-E65B17B2B9A2}"/>
    <dgm:cxn modelId="{B5B9F109-E8E8-4651-B27B-E3E24D9697DE}" srcId="{96A0B49E-6CCD-4BE1-87E2-3B1AEEEDDF98}" destId="{4340487F-216C-433E-B658-800B907FC92C}" srcOrd="1" destOrd="0" parTransId="{6B2898E4-7284-4E15-B7B9-B500F74DD350}" sibTransId="{77D8EE2E-464C-4119-987A-0CADD0C119FD}"/>
    <dgm:cxn modelId="{D596AD17-84AC-43EC-9F6A-1073072900FE}" srcId="{96A0B49E-6CCD-4BE1-87E2-3B1AEEEDDF98}" destId="{35548967-61F8-4645-870B-6394C3D4DF64}" srcOrd="0" destOrd="0" parTransId="{904A4271-6757-4F3E-A47A-C1F103105149}" sibTransId="{0A5EA86F-A927-4C04-8E3B-19CAABF8E176}"/>
    <dgm:cxn modelId="{5CBDEC37-638A-4111-9088-B7E49AED4730}" type="presOf" srcId="{96A0B49E-6CCD-4BE1-87E2-3B1AEEEDDF98}" destId="{FCEEFFF6-FA61-4A81-81AC-20AA96ECD98A}" srcOrd="0" destOrd="0" presId="urn:microsoft.com/office/officeart/2005/8/layout/list1"/>
    <dgm:cxn modelId="{E52FE85F-CCA2-41E7-B180-2D486D035430}" type="presOf" srcId="{35548967-61F8-4645-870B-6394C3D4DF64}" destId="{94184A66-2F65-421F-B612-CF2D91CD861F}" srcOrd="0" destOrd="0" presId="urn:microsoft.com/office/officeart/2005/8/layout/list1"/>
    <dgm:cxn modelId="{A970B1C0-1F66-4B6F-8BEA-9F2058607D8C}" type="presOf" srcId="{4340487F-216C-433E-B658-800B907FC92C}" destId="{1A8152A6-96EA-499C-90D7-642981EF5B1C}" srcOrd="0" destOrd="0" presId="urn:microsoft.com/office/officeart/2005/8/layout/list1"/>
    <dgm:cxn modelId="{51C0FEC9-9149-4FA5-86F4-ED001F8D9DCE}" type="presOf" srcId="{189997DB-0208-48FE-AEA8-D9CD173F60F8}" destId="{3FBCC76B-5E4E-497F-BFD4-2DDA974D52A9}" srcOrd="1" destOrd="0" presId="urn:microsoft.com/office/officeart/2005/8/layout/list1"/>
    <dgm:cxn modelId="{18712CCA-66F7-435D-957D-BA674A6BDC44}" type="presOf" srcId="{4340487F-216C-433E-B658-800B907FC92C}" destId="{E21CFC8D-3ACB-41FA-A73E-5BE3B00C76A2}" srcOrd="1" destOrd="0" presId="urn:microsoft.com/office/officeart/2005/8/layout/list1"/>
    <dgm:cxn modelId="{66929BE1-9964-4494-B86A-4FC9822517A6}" type="presOf" srcId="{35548967-61F8-4645-870B-6394C3D4DF64}" destId="{2D115AF3-0A56-4555-B181-D062B8388463}" srcOrd="1" destOrd="0" presId="urn:microsoft.com/office/officeart/2005/8/layout/list1"/>
    <dgm:cxn modelId="{010AA6EB-B618-4CFB-8133-EC19348333A6}" type="presOf" srcId="{189997DB-0208-48FE-AEA8-D9CD173F60F8}" destId="{2CD24147-2D09-414A-875F-7B45176BE883}" srcOrd="0" destOrd="0" presId="urn:microsoft.com/office/officeart/2005/8/layout/list1"/>
    <dgm:cxn modelId="{231DB02D-0B85-4FE8-8B58-6CEEC19A9CFE}" type="presParOf" srcId="{FCEEFFF6-FA61-4A81-81AC-20AA96ECD98A}" destId="{A33662D3-710F-426A-B0D8-D8EF02A637E2}" srcOrd="0" destOrd="0" presId="urn:microsoft.com/office/officeart/2005/8/layout/list1"/>
    <dgm:cxn modelId="{923F0AD3-718F-4C2F-8252-E179DF902BAB}" type="presParOf" srcId="{A33662D3-710F-426A-B0D8-D8EF02A637E2}" destId="{94184A66-2F65-421F-B612-CF2D91CD861F}" srcOrd="0" destOrd="0" presId="urn:microsoft.com/office/officeart/2005/8/layout/list1"/>
    <dgm:cxn modelId="{6D7617F5-FE68-44EF-A57E-ABBCCE43D0B3}" type="presParOf" srcId="{A33662D3-710F-426A-B0D8-D8EF02A637E2}" destId="{2D115AF3-0A56-4555-B181-D062B8388463}" srcOrd="1" destOrd="0" presId="urn:microsoft.com/office/officeart/2005/8/layout/list1"/>
    <dgm:cxn modelId="{A2B5A44C-2802-4CD8-8F19-03E5AE9A399A}" type="presParOf" srcId="{FCEEFFF6-FA61-4A81-81AC-20AA96ECD98A}" destId="{6673D62C-3246-497E-A905-D15AFF8355AC}" srcOrd="1" destOrd="0" presId="urn:microsoft.com/office/officeart/2005/8/layout/list1"/>
    <dgm:cxn modelId="{67ED4E8D-3D6B-4713-AA30-CA5194710EEA}" type="presParOf" srcId="{FCEEFFF6-FA61-4A81-81AC-20AA96ECD98A}" destId="{C958B601-E0CE-49F3-98F0-01DF08FEE53A}" srcOrd="2" destOrd="0" presId="urn:microsoft.com/office/officeart/2005/8/layout/list1"/>
    <dgm:cxn modelId="{2B062D6A-CFB5-4FBF-B6E9-EF2CCEA1A37E}" type="presParOf" srcId="{FCEEFFF6-FA61-4A81-81AC-20AA96ECD98A}" destId="{E85865D0-1FF9-4466-95F6-6F07DCDB3C3A}" srcOrd="3" destOrd="0" presId="urn:microsoft.com/office/officeart/2005/8/layout/list1"/>
    <dgm:cxn modelId="{43585D5E-46D1-4A4C-9A2D-EFEC14438927}" type="presParOf" srcId="{FCEEFFF6-FA61-4A81-81AC-20AA96ECD98A}" destId="{F8BAEB1B-BFA2-4E77-9985-6F9B06639395}" srcOrd="4" destOrd="0" presId="urn:microsoft.com/office/officeart/2005/8/layout/list1"/>
    <dgm:cxn modelId="{E7D6B5B0-72E4-48C4-B056-A154915616A3}" type="presParOf" srcId="{F8BAEB1B-BFA2-4E77-9985-6F9B06639395}" destId="{1A8152A6-96EA-499C-90D7-642981EF5B1C}" srcOrd="0" destOrd="0" presId="urn:microsoft.com/office/officeart/2005/8/layout/list1"/>
    <dgm:cxn modelId="{D2D14F83-ED18-41DF-A8CF-C69A9FB9B57C}" type="presParOf" srcId="{F8BAEB1B-BFA2-4E77-9985-6F9B06639395}" destId="{E21CFC8D-3ACB-41FA-A73E-5BE3B00C76A2}" srcOrd="1" destOrd="0" presId="urn:microsoft.com/office/officeart/2005/8/layout/list1"/>
    <dgm:cxn modelId="{C2E8C5FE-0502-417C-A71B-D5A2CC53AC70}" type="presParOf" srcId="{FCEEFFF6-FA61-4A81-81AC-20AA96ECD98A}" destId="{C8789D39-17B0-42CB-9583-42AF0F6D44C9}" srcOrd="5" destOrd="0" presId="urn:microsoft.com/office/officeart/2005/8/layout/list1"/>
    <dgm:cxn modelId="{787BF117-5AB5-40E0-9CB7-87267CBE2341}" type="presParOf" srcId="{FCEEFFF6-FA61-4A81-81AC-20AA96ECD98A}" destId="{EC697FA1-5C7B-44D3-9D4F-C5E84B7129A3}" srcOrd="6" destOrd="0" presId="urn:microsoft.com/office/officeart/2005/8/layout/list1"/>
    <dgm:cxn modelId="{B8534563-377F-464B-B7F0-94D50BD29CD7}" type="presParOf" srcId="{FCEEFFF6-FA61-4A81-81AC-20AA96ECD98A}" destId="{39B76882-6360-4FE5-A8EE-F329AAEE104B}" srcOrd="7" destOrd="0" presId="urn:microsoft.com/office/officeart/2005/8/layout/list1"/>
    <dgm:cxn modelId="{A79D16BD-C4E9-4F0D-BF16-C025D2E26803}" type="presParOf" srcId="{FCEEFFF6-FA61-4A81-81AC-20AA96ECD98A}" destId="{A90C6FEE-A5F0-49DC-84E0-A812FE7CCF0A}" srcOrd="8" destOrd="0" presId="urn:microsoft.com/office/officeart/2005/8/layout/list1"/>
    <dgm:cxn modelId="{01C01351-B2F5-4603-9001-64145EB51D1D}" type="presParOf" srcId="{A90C6FEE-A5F0-49DC-84E0-A812FE7CCF0A}" destId="{2CD24147-2D09-414A-875F-7B45176BE883}" srcOrd="0" destOrd="0" presId="urn:microsoft.com/office/officeart/2005/8/layout/list1"/>
    <dgm:cxn modelId="{77B98F7C-24C0-43FC-A2D9-9EC211B73D5F}" type="presParOf" srcId="{A90C6FEE-A5F0-49DC-84E0-A812FE7CCF0A}" destId="{3FBCC76B-5E4E-497F-BFD4-2DDA974D52A9}" srcOrd="1" destOrd="0" presId="urn:microsoft.com/office/officeart/2005/8/layout/list1"/>
    <dgm:cxn modelId="{F2C0870D-58BB-4DD2-B848-4017B1696FE2}" type="presParOf" srcId="{FCEEFFF6-FA61-4A81-81AC-20AA96ECD98A}" destId="{DEE01875-72BB-4EA3-9D20-536E64DE6A3B}" srcOrd="9" destOrd="0" presId="urn:microsoft.com/office/officeart/2005/8/layout/list1"/>
    <dgm:cxn modelId="{8A4A7592-1BF9-467A-B747-9EA1E69823E0}" type="presParOf" srcId="{FCEEFFF6-FA61-4A81-81AC-20AA96ECD98A}" destId="{7B47E240-F339-4A6D-B175-BFAB0AAA0073}"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90239C5-E47B-4B38-B2E7-09D7EF0BD1BF}" type="doc">
      <dgm:prSet loTypeId="urn:microsoft.com/office/officeart/2005/8/layout/process1" loCatId="process" qsTypeId="urn:microsoft.com/office/officeart/2005/8/quickstyle/simple1" qsCatId="simple" csTypeId="urn:microsoft.com/office/officeart/2005/8/colors/colorful1" csCatId="colorful" phldr="1"/>
      <dgm:spPr/>
    </dgm:pt>
    <dgm:pt modelId="{04749BF3-FB65-4E1C-AD79-EB45AAD80EFC}">
      <dgm:prSet phldrT="[Text]" custT="1"/>
      <dgm:spPr/>
      <dgm:t>
        <a:bodyPr/>
        <a:lstStyle/>
        <a:p>
          <a:pPr algn="just">
            <a:lnSpc>
              <a:spcPct val="150000"/>
            </a:lnSpc>
            <a:buNone/>
          </a:pPr>
          <a:r>
            <a:rPr lang="en-US" sz="2000" dirty="0">
              <a:solidFill>
                <a:schemeClr val="bg1"/>
              </a:solidFill>
              <a:latin typeface="Times New Roman" panose="02020603050405020304" pitchFamily="18" charset="0"/>
              <a:cs typeface="Times New Roman" panose="02020603050405020304" pitchFamily="18" charset="0"/>
            </a:rPr>
            <a:t>The alignment of skill gaps with automation risk highlights the urgency for industries to proactively prepare their workforce for technological disruption. </a:t>
          </a:r>
          <a:endParaRPr lang="en-IN" sz="2000" dirty="0">
            <a:solidFill>
              <a:schemeClr val="bg1"/>
            </a:solidFill>
            <a:latin typeface="Times New Roman" panose="02020603050405020304" pitchFamily="18" charset="0"/>
            <a:cs typeface="Times New Roman" panose="02020603050405020304" pitchFamily="18" charset="0"/>
          </a:endParaRPr>
        </a:p>
      </dgm:t>
    </dgm:pt>
    <dgm:pt modelId="{E5BB1344-64A3-486C-A7D9-33605E8AF73A}" type="parTrans" cxnId="{1F13562E-04BC-4446-875D-B681F480D149}">
      <dgm:prSet/>
      <dgm:spPr/>
      <dgm:t>
        <a:bodyPr/>
        <a:lstStyle/>
        <a:p>
          <a:endParaRPr lang="en-IN"/>
        </a:p>
      </dgm:t>
    </dgm:pt>
    <dgm:pt modelId="{DB18F340-EFE2-4363-9100-1D4E682BE900}" type="sibTrans" cxnId="{1F13562E-04BC-4446-875D-B681F480D149}">
      <dgm:prSet/>
      <dgm:spPr/>
      <dgm:t>
        <a:bodyPr/>
        <a:lstStyle/>
        <a:p>
          <a:endParaRPr lang="en-IN"/>
        </a:p>
      </dgm:t>
    </dgm:pt>
    <dgm:pt modelId="{EC0D2FC4-7A89-4D97-9871-E7D5EBDF8639}">
      <dgm:prSet phldrT="[Text]" custT="1"/>
      <dgm:spPr/>
      <dgm:t>
        <a:bodyPr/>
        <a:lstStyle/>
        <a:p>
          <a:pPr algn="just">
            <a:lnSpc>
              <a:spcPct val="150000"/>
            </a:lnSpc>
            <a:buNone/>
          </a:pPr>
          <a:r>
            <a:rPr lang="en-US" sz="2000" dirty="0">
              <a:solidFill>
                <a:schemeClr val="bg1"/>
              </a:solidFill>
              <a:latin typeface="Times New Roman" panose="02020603050405020304" pitchFamily="18" charset="0"/>
              <a:cs typeface="Times New Roman" panose="02020603050405020304" pitchFamily="18" charset="0"/>
            </a:rPr>
            <a:t>Cross-sector patterns reveal that no industry is immune, reinforcing the importance of collective investment in reskilling and adaptability. </a:t>
          </a:r>
          <a:endParaRPr lang="en-IN" sz="2000" dirty="0">
            <a:solidFill>
              <a:schemeClr val="bg1"/>
            </a:solidFill>
            <a:latin typeface="Times New Roman" panose="02020603050405020304" pitchFamily="18" charset="0"/>
            <a:cs typeface="Times New Roman" panose="02020603050405020304" pitchFamily="18" charset="0"/>
          </a:endParaRPr>
        </a:p>
      </dgm:t>
    </dgm:pt>
    <dgm:pt modelId="{CACAABD5-6A41-4345-8A33-F9998535D4FE}" type="parTrans" cxnId="{0FE85B2E-0782-4BFE-8953-912396E25D21}">
      <dgm:prSet/>
      <dgm:spPr/>
      <dgm:t>
        <a:bodyPr/>
        <a:lstStyle/>
        <a:p>
          <a:endParaRPr lang="en-IN"/>
        </a:p>
      </dgm:t>
    </dgm:pt>
    <dgm:pt modelId="{B68143DE-DA9D-4990-8296-CE1D97E48F85}" type="sibTrans" cxnId="{0FE85B2E-0782-4BFE-8953-912396E25D21}">
      <dgm:prSet/>
      <dgm:spPr/>
      <dgm:t>
        <a:bodyPr/>
        <a:lstStyle/>
        <a:p>
          <a:endParaRPr lang="en-IN"/>
        </a:p>
      </dgm:t>
    </dgm:pt>
    <dgm:pt modelId="{EC94BDCC-8CE7-4066-9F89-8D548CA2A988}">
      <dgm:prSet phldrT="[Text]" custT="1"/>
      <dgm:spPr/>
      <dgm:t>
        <a:bodyPr/>
        <a:lstStyle/>
        <a:p>
          <a:pPr algn="just">
            <a:lnSpc>
              <a:spcPct val="150000"/>
            </a:lnSpc>
            <a:buNone/>
          </a:pPr>
          <a:r>
            <a:rPr lang="en-US" sz="2000" dirty="0">
              <a:solidFill>
                <a:schemeClr val="bg1"/>
              </a:solidFill>
              <a:latin typeface="Times New Roman" panose="02020603050405020304" pitchFamily="18" charset="0"/>
              <a:cs typeface="Times New Roman" panose="02020603050405020304" pitchFamily="18" charset="0"/>
            </a:rPr>
            <a:t>The overall trend underscores that balancing automation adoption with human capability is essential to sustain competitiveness and resilience in the future economy. </a:t>
          </a:r>
          <a:endParaRPr lang="en-IN" sz="2000" dirty="0">
            <a:solidFill>
              <a:schemeClr val="bg1"/>
            </a:solidFill>
            <a:latin typeface="Times New Roman" panose="02020603050405020304" pitchFamily="18" charset="0"/>
            <a:cs typeface="Times New Roman" panose="02020603050405020304" pitchFamily="18" charset="0"/>
          </a:endParaRPr>
        </a:p>
      </dgm:t>
    </dgm:pt>
    <dgm:pt modelId="{2A78F0B8-F3FC-42B4-8068-1F5D5AA97BCB}" type="parTrans" cxnId="{115B2E02-A234-4A05-9433-9055F79D1B0B}">
      <dgm:prSet/>
      <dgm:spPr/>
      <dgm:t>
        <a:bodyPr/>
        <a:lstStyle/>
        <a:p>
          <a:endParaRPr lang="en-IN"/>
        </a:p>
      </dgm:t>
    </dgm:pt>
    <dgm:pt modelId="{DCF2181B-746F-448F-A36B-B7CA44EFEBA9}" type="sibTrans" cxnId="{115B2E02-A234-4A05-9433-9055F79D1B0B}">
      <dgm:prSet/>
      <dgm:spPr/>
      <dgm:t>
        <a:bodyPr/>
        <a:lstStyle/>
        <a:p>
          <a:endParaRPr lang="en-IN"/>
        </a:p>
      </dgm:t>
    </dgm:pt>
    <dgm:pt modelId="{DEADB201-B701-40E0-B3A5-FEF387C40940}" type="pres">
      <dgm:prSet presAssocID="{990239C5-E47B-4B38-B2E7-09D7EF0BD1BF}" presName="Name0" presStyleCnt="0">
        <dgm:presLayoutVars>
          <dgm:dir/>
          <dgm:resizeHandles val="exact"/>
        </dgm:presLayoutVars>
      </dgm:prSet>
      <dgm:spPr/>
    </dgm:pt>
    <dgm:pt modelId="{FB2CD947-D6BD-4B63-AFE8-7ECCB272F55B}" type="pres">
      <dgm:prSet presAssocID="{04749BF3-FB65-4E1C-AD79-EB45AAD80EFC}" presName="node" presStyleLbl="node1" presStyleIdx="0" presStyleCnt="3">
        <dgm:presLayoutVars>
          <dgm:bulletEnabled val="1"/>
        </dgm:presLayoutVars>
      </dgm:prSet>
      <dgm:spPr/>
    </dgm:pt>
    <dgm:pt modelId="{BFCFC6C1-B440-4B25-BDA8-FAFA53A16AB1}" type="pres">
      <dgm:prSet presAssocID="{DB18F340-EFE2-4363-9100-1D4E682BE900}" presName="sibTrans" presStyleLbl="sibTrans2D1" presStyleIdx="0" presStyleCnt="2"/>
      <dgm:spPr/>
    </dgm:pt>
    <dgm:pt modelId="{7D140D13-2458-45E3-986E-FACC5963BEBD}" type="pres">
      <dgm:prSet presAssocID="{DB18F340-EFE2-4363-9100-1D4E682BE900}" presName="connectorText" presStyleLbl="sibTrans2D1" presStyleIdx="0" presStyleCnt="2"/>
      <dgm:spPr/>
    </dgm:pt>
    <dgm:pt modelId="{ADB1634D-5A1D-41D1-995A-5DC85877CD86}" type="pres">
      <dgm:prSet presAssocID="{EC0D2FC4-7A89-4D97-9871-E7D5EBDF8639}" presName="node" presStyleLbl="node1" presStyleIdx="1" presStyleCnt="3">
        <dgm:presLayoutVars>
          <dgm:bulletEnabled val="1"/>
        </dgm:presLayoutVars>
      </dgm:prSet>
      <dgm:spPr/>
    </dgm:pt>
    <dgm:pt modelId="{706602CC-4F83-4B31-829B-5F29F6B5C362}" type="pres">
      <dgm:prSet presAssocID="{B68143DE-DA9D-4990-8296-CE1D97E48F85}" presName="sibTrans" presStyleLbl="sibTrans2D1" presStyleIdx="1" presStyleCnt="2"/>
      <dgm:spPr/>
    </dgm:pt>
    <dgm:pt modelId="{7C46EB0A-870E-4956-B061-CA0496393F47}" type="pres">
      <dgm:prSet presAssocID="{B68143DE-DA9D-4990-8296-CE1D97E48F85}" presName="connectorText" presStyleLbl="sibTrans2D1" presStyleIdx="1" presStyleCnt="2"/>
      <dgm:spPr/>
    </dgm:pt>
    <dgm:pt modelId="{29935C00-CBD4-4846-9DC0-72F695192B22}" type="pres">
      <dgm:prSet presAssocID="{EC94BDCC-8CE7-4066-9F89-8D548CA2A988}" presName="node" presStyleLbl="node1" presStyleIdx="2" presStyleCnt="3">
        <dgm:presLayoutVars>
          <dgm:bulletEnabled val="1"/>
        </dgm:presLayoutVars>
      </dgm:prSet>
      <dgm:spPr/>
    </dgm:pt>
  </dgm:ptLst>
  <dgm:cxnLst>
    <dgm:cxn modelId="{115B2E02-A234-4A05-9433-9055F79D1B0B}" srcId="{990239C5-E47B-4B38-B2E7-09D7EF0BD1BF}" destId="{EC94BDCC-8CE7-4066-9F89-8D548CA2A988}" srcOrd="2" destOrd="0" parTransId="{2A78F0B8-F3FC-42B4-8068-1F5D5AA97BCB}" sibTransId="{DCF2181B-746F-448F-A36B-B7CA44EFEBA9}"/>
    <dgm:cxn modelId="{A821451C-F808-43D2-95D3-B0F9F35D9353}" type="presOf" srcId="{DB18F340-EFE2-4363-9100-1D4E682BE900}" destId="{7D140D13-2458-45E3-986E-FACC5963BEBD}" srcOrd="1" destOrd="0" presId="urn:microsoft.com/office/officeart/2005/8/layout/process1"/>
    <dgm:cxn modelId="{354A6721-E5C0-4ECF-9E7A-F0C89A2B7741}" type="presOf" srcId="{EC94BDCC-8CE7-4066-9F89-8D548CA2A988}" destId="{29935C00-CBD4-4846-9DC0-72F695192B22}" srcOrd="0" destOrd="0" presId="urn:microsoft.com/office/officeart/2005/8/layout/process1"/>
    <dgm:cxn modelId="{0FE85B2E-0782-4BFE-8953-912396E25D21}" srcId="{990239C5-E47B-4B38-B2E7-09D7EF0BD1BF}" destId="{EC0D2FC4-7A89-4D97-9871-E7D5EBDF8639}" srcOrd="1" destOrd="0" parTransId="{CACAABD5-6A41-4345-8A33-F9998535D4FE}" sibTransId="{B68143DE-DA9D-4990-8296-CE1D97E48F85}"/>
    <dgm:cxn modelId="{1F13562E-04BC-4446-875D-B681F480D149}" srcId="{990239C5-E47B-4B38-B2E7-09D7EF0BD1BF}" destId="{04749BF3-FB65-4E1C-AD79-EB45AAD80EFC}" srcOrd="0" destOrd="0" parTransId="{E5BB1344-64A3-486C-A7D9-33605E8AF73A}" sibTransId="{DB18F340-EFE2-4363-9100-1D4E682BE900}"/>
    <dgm:cxn modelId="{09EB9B2E-2429-4918-B42E-4405978376FF}" type="presOf" srcId="{B68143DE-DA9D-4990-8296-CE1D97E48F85}" destId="{706602CC-4F83-4B31-829B-5F29F6B5C362}" srcOrd="0" destOrd="0" presId="urn:microsoft.com/office/officeart/2005/8/layout/process1"/>
    <dgm:cxn modelId="{14B9C82E-27BC-4F0D-A6FC-C7BAF9C319AE}" type="presOf" srcId="{B68143DE-DA9D-4990-8296-CE1D97E48F85}" destId="{7C46EB0A-870E-4956-B061-CA0496393F47}" srcOrd="1" destOrd="0" presId="urn:microsoft.com/office/officeart/2005/8/layout/process1"/>
    <dgm:cxn modelId="{92643266-B7BC-4395-9D83-0B81291BA0EA}" type="presOf" srcId="{DB18F340-EFE2-4363-9100-1D4E682BE900}" destId="{BFCFC6C1-B440-4B25-BDA8-FAFA53A16AB1}" srcOrd="0" destOrd="0" presId="urn:microsoft.com/office/officeart/2005/8/layout/process1"/>
    <dgm:cxn modelId="{1F300675-6C56-4BAC-87A4-8B1DD6352CD9}" type="presOf" srcId="{EC0D2FC4-7A89-4D97-9871-E7D5EBDF8639}" destId="{ADB1634D-5A1D-41D1-995A-5DC85877CD86}" srcOrd="0" destOrd="0" presId="urn:microsoft.com/office/officeart/2005/8/layout/process1"/>
    <dgm:cxn modelId="{F6F6C979-03B3-41D6-BA96-00F348ED0161}" type="presOf" srcId="{990239C5-E47B-4B38-B2E7-09D7EF0BD1BF}" destId="{DEADB201-B701-40E0-B3A5-FEF387C40940}" srcOrd="0" destOrd="0" presId="urn:microsoft.com/office/officeart/2005/8/layout/process1"/>
    <dgm:cxn modelId="{CF1578C4-2D5F-48A4-8438-875629539B31}" type="presOf" srcId="{04749BF3-FB65-4E1C-AD79-EB45AAD80EFC}" destId="{FB2CD947-D6BD-4B63-AFE8-7ECCB272F55B}" srcOrd="0" destOrd="0" presId="urn:microsoft.com/office/officeart/2005/8/layout/process1"/>
    <dgm:cxn modelId="{C34AD4B0-D86E-4914-B45E-7C6B01CE0BFF}" type="presParOf" srcId="{DEADB201-B701-40E0-B3A5-FEF387C40940}" destId="{FB2CD947-D6BD-4B63-AFE8-7ECCB272F55B}" srcOrd="0" destOrd="0" presId="urn:microsoft.com/office/officeart/2005/8/layout/process1"/>
    <dgm:cxn modelId="{17557DC6-5265-436C-A3F6-0B04FCB6FF2E}" type="presParOf" srcId="{DEADB201-B701-40E0-B3A5-FEF387C40940}" destId="{BFCFC6C1-B440-4B25-BDA8-FAFA53A16AB1}" srcOrd="1" destOrd="0" presId="urn:microsoft.com/office/officeart/2005/8/layout/process1"/>
    <dgm:cxn modelId="{BEE108E6-1914-4C7C-92CC-1A49E8F86355}" type="presParOf" srcId="{BFCFC6C1-B440-4B25-BDA8-FAFA53A16AB1}" destId="{7D140D13-2458-45E3-986E-FACC5963BEBD}" srcOrd="0" destOrd="0" presId="urn:microsoft.com/office/officeart/2005/8/layout/process1"/>
    <dgm:cxn modelId="{C91576AD-DE01-42E7-A66D-8DB00DC595B7}" type="presParOf" srcId="{DEADB201-B701-40E0-B3A5-FEF387C40940}" destId="{ADB1634D-5A1D-41D1-995A-5DC85877CD86}" srcOrd="2" destOrd="0" presId="urn:microsoft.com/office/officeart/2005/8/layout/process1"/>
    <dgm:cxn modelId="{0D9FF272-FBC3-4316-818E-8F260A304ED4}" type="presParOf" srcId="{DEADB201-B701-40E0-B3A5-FEF387C40940}" destId="{706602CC-4F83-4B31-829B-5F29F6B5C362}" srcOrd="3" destOrd="0" presId="urn:microsoft.com/office/officeart/2005/8/layout/process1"/>
    <dgm:cxn modelId="{0295DE3A-F31F-45FF-B392-A98A48972DFD}" type="presParOf" srcId="{706602CC-4F83-4B31-829B-5F29F6B5C362}" destId="{7C46EB0A-870E-4956-B061-CA0496393F47}" srcOrd="0" destOrd="0" presId="urn:microsoft.com/office/officeart/2005/8/layout/process1"/>
    <dgm:cxn modelId="{4373AF40-5B89-4EE4-9AED-5BCA83240A54}" type="presParOf" srcId="{DEADB201-B701-40E0-B3A5-FEF387C40940}" destId="{29935C00-CBD4-4846-9DC0-72F695192B22}"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C07F1A-34A3-4F51-BCDE-E7E82B623A99}">
      <dsp:nvSpPr>
        <dsp:cNvPr id="0" name=""/>
        <dsp:cNvSpPr/>
      </dsp:nvSpPr>
      <dsp:spPr>
        <a:xfrm>
          <a:off x="504203" y="1187792"/>
          <a:ext cx="3743137" cy="35415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just" defTabSz="889000">
            <a:lnSpc>
              <a:spcPct val="150000"/>
            </a:lnSpc>
            <a:spcBef>
              <a:spcPct val="0"/>
            </a:spcBef>
            <a:spcAft>
              <a:spcPct val="35000"/>
            </a:spcAft>
            <a:buNone/>
          </a:pPr>
          <a:r>
            <a:rPr lang="en-US" sz="2000" kern="1200" dirty="0">
              <a:solidFill>
                <a:schemeClr val="bg1"/>
              </a:solidFill>
              <a:latin typeface="Times New Roman" panose="02020603050405020304" pitchFamily="18" charset="0"/>
              <a:cs typeface="Times New Roman" panose="02020603050405020304" pitchFamily="18" charset="0"/>
            </a:rPr>
            <a:t>As AI adoption accelerates across industries, organizations lack clear visibility into which sectors, job roles, and regions are most exposed to automation risk and widening skill gaps, making workforce planning uncertain and reactive.</a:t>
          </a:r>
          <a:endParaRPr lang="en-IN" sz="2000" kern="1200" dirty="0">
            <a:solidFill>
              <a:schemeClr val="bg1"/>
            </a:solidFill>
            <a:latin typeface="Times New Roman" panose="02020603050405020304" pitchFamily="18" charset="0"/>
            <a:cs typeface="Times New Roman" panose="02020603050405020304" pitchFamily="18" charset="0"/>
          </a:endParaRPr>
        </a:p>
      </dsp:txBody>
      <dsp:txXfrm>
        <a:off x="607931" y="1291520"/>
        <a:ext cx="3535681" cy="3334066"/>
      </dsp:txXfrm>
    </dsp:sp>
    <dsp:sp modelId="{A9FCE81E-EB8A-45EC-8978-40D22DE40D15}">
      <dsp:nvSpPr>
        <dsp:cNvPr id="0" name=""/>
        <dsp:cNvSpPr/>
      </dsp:nvSpPr>
      <dsp:spPr>
        <a:xfrm rot="18102030">
          <a:off x="3672871" y="1904352"/>
          <a:ext cx="2421259" cy="48380"/>
        </a:xfrm>
        <a:custGeom>
          <a:avLst/>
          <a:gdLst/>
          <a:ahLst/>
          <a:cxnLst/>
          <a:rect l="0" t="0" r="0" b="0"/>
          <a:pathLst>
            <a:path>
              <a:moveTo>
                <a:pt x="0" y="24190"/>
              </a:moveTo>
              <a:lnTo>
                <a:pt x="2421259" y="24190"/>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4822969" y="1868010"/>
        <a:ext cx="121062" cy="121062"/>
      </dsp:txXfrm>
    </dsp:sp>
    <dsp:sp modelId="{396683BF-769F-483B-BD21-1034369F4A09}">
      <dsp:nvSpPr>
        <dsp:cNvPr id="0" name=""/>
        <dsp:cNvSpPr/>
      </dsp:nvSpPr>
      <dsp:spPr>
        <a:xfrm>
          <a:off x="5519662" y="3579"/>
          <a:ext cx="5770613" cy="178990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just" defTabSz="889000">
            <a:lnSpc>
              <a:spcPct val="150000"/>
            </a:lnSpc>
            <a:spcBef>
              <a:spcPct val="0"/>
            </a:spcBef>
            <a:spcAft>
              <a:spcPct val="35000"/>
            </a:spcAft>
            <a:buNone/>
          </a:pPr>
          <a:r>
            <a:rPr lang="en-US" sz="2000" kern="1200" dirty="0">
              <a:solidFill>
                <a:schemeClr val="bg1"/>
              </a:solidFill>
              <a:latin typeface="Times New Roman" panose="02020603050405020304" pitchFamily="18" charset="0"/>
              <a:cs typeface="Times New Roman" panose="02020603050405020304" pitchFamily="18" charset="0"/>
            </a:rPr>
            <a:t>There is limited clarity on how automation risk varies across industries and countries, making it difficult to prioritize strategic workforce interventions.</a:t>
          </a:r>
          <a:endParaRPr lang="en-IN" sz="2000" kern="1200" dirty="0">
            <a:solidFill>
              <a:schemeClr val="bg1"/>
            </a:solidFill>
            <a:latin typeface="Times New Roman" panose="02020603050405020304" pitchFamily="18" charset="0"/>
            <a:cs typeface="Times New Roman" panose="02020603050405020304" pitchFamily="18" charset="0"/>
          </a:endParaRPr>
        </a:p>
      </dsp:txBody>
      <dsp:txXfrm>
        <a:off x="5572086" y="56003"/>
        <a:ext cx="5665765" cy="1685053"/>
      </dsp:txXfrm>
    </dsp:sp>
    <dsp:sp modelId="{8513FFE3-D50A-4012-95B8-87D96EB393A2}">
      <dsp:nvSpPr>
        <dsp:cNvPr id="0" name=""/>
        <dsp:cNvSpPr/>
      </dsp:nvSpPr>
      <dsp:spPr>
        <a:xfrm rot="21246455">
          <a:off x="4243961" y="2868708"/>
          <a:ext cx="1279079" cy="48380"/>
        </a:xfrm>
        <a:custGeom>
          <a:avLst/>
          <a:gdLst/>
          <a:ahLst/>
          <a:cxnLst/>
          <a:rect l="0" t="0" r="0" b="0"/>
          <a:pathLst>
            <a:path>
              <a:moveTo>
                <a:pt x="0" y="24190"/>
              </a:moveTo>
              <a:lnTo>
                <a:pt x="1279079" y="24190"/>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4851524" y="2860921"/>
        <a:ext cx="63953" cy="63953"/>
      </dsp:txXfrm>
    </dsp:sp>
    <dsp:sp modelId="{38D61D71-A0B0-44B4-9A94-D181B09925AA}">
      <dsp:nvSpPr>
        <dsp:cNvPr id="0" name=""/>
        <dsp:cNvSpPr/>
      </dsp:nvSpPr>
      <dsp:spPr>
        <a:xfrm>
          <a:off x="5519662" y="2032041"/>
          <a:ext cx="5863333" cy="159040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just" defTabSz="889000">
            <a:lnSpc>
              <a:spcPct val="150000"/>
            </a:lnSpc>
            <a:spcBef>
              <a:spcPct val="0"/>
            </a:spcBef>
            <a:spcAft>
              <a:spcPct val="35000"/>
            </a:spcAft>
            <a:buNone/>
          </a:pPr>
          <a:r>
            <a:rPr lang="en-US" sz="2000" kern="1200" dirty="0">
              <a:solidFill>
                <a:schemeClr val="bg1"/>
              </a:solidFill>
              <a:latin typeface="Times New Roman" panose="02020603050405020304" pitchFamily="18" charset="0"/>
              <a:cs typeface="Times New Roman" panose="02020603050405020304" pitchFamily="18" charset="0"/>
            </a:rPr>
            <a:t>Organizations struggle to identify which job roles face the highest skill gap pressure, increasing the risk of talent shortages and inefficient reskilling investments.</a:t>
          </a:r>
          <a:endParaRPr lang="en-IN" sz="2000" kern="1200" dirty="0">
            <a:solidFill>
              <a:schemeClr val="bg1"/>
            </a:solidFill>
            <a:latin typeface="Times New Roman" panose="02020603050405020304" pitchFamily="18" charset="0"/>
            <a:cs typeface="Times New Roman" panose="02020603050405020304" pitchFamily="18" charset="0"/>
          </a:endParaRPr>
        </a:p>
      </dsp:txBody>
      <dsp:txXfrm>
        <a:off x="5566243" y="2078622"/>
        <a:ext cx="5770171" cy="1497239"/>
      </dsp:txXfrm>
    </dsp:sp>
    <dsp:sp modelId="{449782BF-80AB-4F6B-8D15-4188373B442C}">
      <dsp:nvSpPr>
        <dsp:cNvPr id="0" name=""/>
        <dsp:cNvSpPr/>
      </dsp:nvSpPr>
      <dsp:spPr>
        <a:xfrm rot="3395292">
          <a:off x="3728216" y="3898719"/>
          <a:ext cx="2310569" cy="48380"/>
        </a:xfrm>
        <a:custGeom>
          <a:avLst/>
          <a:gdLst/>
          <a:ahLst/>
          <a:cxnLst/>
          <a:rect l="0" t="0" r="0" b="0"/>
          <a:pathLst>
            <a:path>
              <a:moveTo>
                <a:pt x="0" y="24190"/>
              </a:moveTo>
              <a:lnTo>
                <a:pt x="2310569" y="24190"/>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4825737" y="3865145"/>
        <a:ext cx="115528" cy="115528"/>
      </dsp:txXfrm>
    </dsp:sp>
    <dsp:sp modelId="{204DEA9C-4EE5-4083-9832-5B33A845D0EA}">
      <dsp:nvSpPr>
        <dsp:cNvPr id="0" name=""/>
        <dsp:cNvSpPr/>
      </dsp:nvSpPr>
      <dsp:spPr>
        <a:xfrm>
          <a:off x="5519662" y="3861003"/>
          <a:ext cx="5786708" cy="2052524"/>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just" defTabSz="889000">
            <a:lnSpc>
              <a:spcPct val="150000"/>
            </a:lnSpc>
            <a:spcBef>
              <a:spcPct val="0"/>
            </a:spcBef>
            <a:spcAft>
              <a:spcPct val="35000"/>
            </a:spcAft>
            <a:buNone/>
          </a:pPr>
          <a:r>
            <a:rPr lang="en-US" sz="2000" kern="1200" dirty="0">
              <a:solidFill>
                <a:schemeClr val="bg1"/>
              </a:solidFill>
              <a:latin typeface="Times New Roman" panose="02020603050405020304" pitchFamily="18" charset="0"/>
              <a:cs typeface="Times New Roman" panose="02020603050405020304" pitchFamily="18" charset="0"/>
            </a:rPr>
            <a:t>The relationship between automation exposure and salary changes remains ambiguous, raising concerns about whether AI adoption is creating value or amplifying economic disparity.</a:t>
          </a:r>
          <a:endParaRPr lang="en-IN" sz="2000" kern="1200" dirty="0">
            <a:solidFill>
              <a:schemeClr val="bg1"/>
            </a:solidFill>
            <a:latin typeface="Times New Roman" panose="02020603050405020304" pitchFamily="18" charset="0"/>
            <a:cs typeface="Times New Roman" panose="02020603050405020304" pitchFamily="18" charset="0"/>
          </a:endParaRPr>
        </a:p>
      </dsp:txBody>
      <dsp:txXfrm>
        <a:off x="5579778" y="3921119"/>
        <a:ext cx="5666476" cy="1932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58B601-E0CE-49F3-98F0-01DF08FEE53A}">
      <dsp:nvSpPr>
        <dsp:cNvPr id="0" name=""/>
        <dsp:cNvSpPr/>
      </dsp:nvSpPr>
      <dsp:spPr>
        <a:xfrm>
          <a:off x="0" y="647078"/>
          <a:ext cx="11474245" cy="10836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D115AF3-0A56-4555-B181-D062B8388463}">
      <dsp:nvSpPr>
        <dsp:cNvPr id="0" name=""/>
        <dsp:cNvSpPr/>
      </dsp:nvSpPr>
      <dsp:spPr>
        <a:xfrm>
          <a:off x="573712" y="12397"/>
          <a:ext cx="9501902" cy="126936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3589" tIns="0" rIns="303589" bIns="0" numCol="1" spcCol="1270" anchor="ctr" anchorCtr="0">
          <a:noAutofit/>
        </a:bodyPr>
        <a:lstStyle/>
        <a:p>
          <a:pPr marL="0" lvl="0" indent="0" algn="just" defTabSz="889000">
            <a:lnSpc>
              <a:spcPct val="150000"/>
            </a:lnSpc>
            <a:spcBef>
              <a:spcPct val="0"/>
            </a:spcBef>
            <a:spcAft>
              <a:spcPct val="35000"/>
            </a:spcAft>
            <a:buNone/>
          </a:pPr>
          <a:r>
            <a:rPr lang="en-US" sz="2000" kern="1200" dirty="0">
              <a:solidFill>
                <a:schemeClr val="bg1"/>
              </a:solidFill>
              <a:latin typeface="Times New Roman" panose="02020603050405020304" pitchFamily="18" charset="0"/>
              <a:cs typeface="Times New Roman" panose="02020603050405020304" pitchFamily="18" charset="0"/>
            </a:rPr>
            <a:t>It is recommended to implement reskilling initiatives that directly address workforce skill gaps, ensuring employees remain relevant in evolving roles. </a:t>
          </a:r>
          <a:endParaRPr lang="en-IN" sz="2000" kern="1200" dirty="0">
            <a:solidFill>
              <a:schemeClr val="bg1"/>
            </a:solidFill>
            <a:latin typeface="Times New Roman" panose="02020603050405020304" pitchFamily="18" charset="0"/>
            <a:cs typeface="Times New Roman" panose="02020603050405020304" pitchFamily="18" charset="0"/>
          </a:endParaRPr>
        </a:p>
      </dsp:txBody>
      <dsp:txXfrm>
        <a:off x="635677" y="74362"/>
        <a:ext cx="9377972" cy="1145430"/>
      </dsp:txXfrm>
    </dsp:sp>
    <dsp:sp modelId="{EC697FA1-5C7B-44D3-9D4F-C5E84B7129A3}">
      <dsp:nvSpPr>
        <dsp:cNvPr id="0" name=""/>
        <dsp:cNvSpPr/>
      </dsp:nvSpPr>
      <dsp:spPr>
        <a:xfrm>
          <a:off x="0" y="2597558"/>
          <a:ext cx="11474245" cy="1083600"/>
        </a:xfrm>
        <a:prstGeom prst="rect">
          <a:avLst/>
        </a:prstGeom>
        <a:solidFill>
          <a:schemeClr val="lt1">
            <a:alpha val="90000"/>
            <a:hueOff val="0"/>
            <a:satOff val="0"/>
            <a:lumOff val="0"/>
            <a:alphaOff val="0"/>
          </a:schemeClr>
        </a:solidFill>
        <a:ln w="12700" cap="flat" cmpd="sng" algn="ctr">
          <a:solidFill>
            <a:schemeClr val="accent4">
              <a:hueOff val="4013302"/>
              <a:satOff val="-15334"/>
              <a:lumOff val="-1568"/>
              <a:alphaOff val="0"/>
            </a:schemeClr>
          </a:solidFill>
          <a:prstDash val="solid"/>
        </a:ln>
        <a:effectLst/>
      </dsp:spPr>
      <dsp:style>
        <a:lnRef idx="2">
          <a:scrgbClr r="0" g="0" b="0"/>
        </a:lnRef>
        <a:fillRef idx="1">
          <a:scrgbClr r="0" g="0" b="0"/>
        </a:fillRef>
        <a:effectRef idx="0">
          <a:scrgbClr r="0" g="0" b="0"/>
        </a:effectRef>
        <a:fontRef idx="minor"/>
      </dsp:style>
    </dsp:sp>
    <dsp:sp modelId="{E21CFC8D-3ACB-41FA-A73E-5BE3B00C76A2}">
      <dsp:nvSpPr>
        <dsp:cNvPr id="0" name=""/>
        <dsp:cNvSpPr/>
      </dsp:nvSpPr>
      <dsp:spPr>
        <a:xfrm>
          <a:off x="573712" y="1962878"/>
          <a:ext cx="9619892" cy="1269360"/>
        </a:xfrm>
        <a:prstGeom prst="roundRect">
          <a:avLst/>
        </a:prstGeom>
        <a:solidFill>
          <a:schemeClr val="accent4">
            <a:hueOff val="4013302"/>
            <a:satOff val="-15334"/>
            <a:lumOff val="-1568"/>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3589" tIns="0" rIns="303589" bIns="0" numCol="1" spcCol="1270" anchor="ctr" anchorCtr="0">
          <a:noAutofit/>
        </a:bodyPr>
        <a:lstStyle/>
        <a:p>
          <a:pPr marL="0" lvl="0" indent="0" algn="just" defTabSz="889000">
            <a:lnSpc>
              <a:spcPct val="150000"/>
            </a:lnSpc>
            <a:spcBef>
              <a:spcPct val="0"/>
            </a:spcBef>
            <a:spcAft>
              <a:spcPct val="35000"/>
            </a:spcAft>
            <a:buNone/>
          </a:pPr>
          <a:r>
            <a:rPr lang="en-US" sz="2000" kern="1200" dirty="0">
              <a:solidFill>
                <a:schemeClr val="bg1"/>
              </a:solidFill>
              <a:latin typeface="Times New Roman" panose="02020603050405020304" pitchFamily="18" charset="0"/>
              <a:cs typeface="Times New Roman" panose="02020603050405020304" pitchFamily="18" charset="0"/>
            </a:rPr>
            <a:t>It is suggested to promote continuous learning frameworks across industries, enabling adaptability as automation reshapes job requirements. </a:t>
          </a:r>
          <a:endParaRPr lang="en-IN" sz="2000" kern="1200" dirty="0">
            <a:solidFill>
              <a:schemeClr val="bg1"/>
            </a:solidFill>
            <a:latin typeface="Times New Roman" panose="02020603050405020304" pitchFamily="18" charset="0"/>
            <a:cs typeface="Times New Roman" panose="02020603050405020304" pitchFamily="18" charset="0"/>
          </a:endParaRPr>
        </a:p>
      </dsp:txBody>
      <dsp:txXfrm>
        <a:off x="635677" y="2024843"/>
        <a:ext cx="9495962" cy="1145430"/>
      </dsp:txXfrm>
    </dsp:sp>
    <dsp:sp modelId="{7B47E240-F339-4A6D-B175-BFAB0AAA0073}">
      <dsp:nvSpPr>
        <dsp:cNvPr id="0" name=""/>
        <dsp:cNvSpPr/>
      </dsp:nvSpPr>
      <dsp:spPr>
        <a:xfrm>
          <a:off x="0" y="4548038"/>
          <a:ext cx="11474245" cy="1083600"/>
        </a:xfrm>
        <a:prstGeom prst="rect">
          <a:avLst/>
        </a:prstGeom>
        <a:solidFill>
          <a:schemeClr val="lt1">
            <a:alpha val="90000"/>
            <a:hueOff val="0"/>
            <a:satOff val="0"/>
            <a:lumOff val="0"/>
            <a:alphaOff val="0"/>
          </a:schemeClr>
        </a:solidFill>
        <a:ln w="12700" cap="flat" cmpd="sng" algn="ctr">
          <a:solidFill>
            <a:schemeClr val="accent4">
              <a:hueOff val="8026603"/>
              <a:satOff val="-30667"/>
              <a:lumOff val="-3137"/>
              <a:alphaOff val="0"/>
            </a:schemeClr>
          </a:solidFill>
          <a:prstDash val="solid"/>
        </a:ln>
        <a:effectLst/>
      </dsp:spPr>
      <dsp:style>
        <a:lnRef idx="2">
          <a:scrgbClr r="0" g="0" b="0"/>
        </a:lnRef>
        <a:fillRef idx="1">
          <a:scrgbClr r="0" g="0" b="0"/>
        </a:fillRef>
        <a:effectRef idx="0">
          <a:scrgbClr r="0" g="0" b="0"/>
        </a:effectRef>
        <a:fontRef idx="minor"/>
      </dsp:style>
    </dsp:sp>
    <dsp:sp modelId="{3FBCC76B-5E4E-497F-BFD4-2DDA974D52A9}">
      <dsp:nvSpPr>
        <dsp:cNvPr id="0" name=""/>
        <dsp:cNvSpPr/>
      </dsp:nvSpPr>
      <dsp:spPr>
        <a:xfrm>
          <a:off x="573712" y="3913358"/>
          <a:ext cx="9954263" cy="1269360"/>
        </a:xfrm>
        <a:prstGeom prst="roundRect">
          <a:avLst/>
        </a:prstGeom>
        <a:solidFill>
          <a:schemeClr val="accent4">
            <a:hueOff val="8026603"/>
            <a:satOff val="-30667"/>
            <a:lumOff val="-313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3589" tIns="0" rIns="303589" bIns="0" numCol="1" spcCol="1270" anchor="ctr" anchorCtr="0">
          <a:noAutofit/>
        </a:bodyPr>
        <a:lstStyle/>
        <a:p>
          <a:pPr marL="0" lvl="0" indent="0" algn="just" defTabSz="889000">
            <a:lnSpc>
              <a:spcPct val="150000"/>
            </a:lnSpc>
            <a:spcBef>
              <a:spcPct val="0"/>
            </a:spcBef>
            <a:spcAft>
              <a:spcPct val="35000"/>
            </a:spcAft>
            <a:buNone/>
          </a:pPr>
          <a:r>
            <a:rPr lang="en-US" sz="2000" kern="1200" dirty="0">
              <a:solidFill>
                <a:schemeClr val="bg1"/>
              </a:solidFill>
              <a:latin typeface="Times New Roman" panose="02020603050405020304" pitchFamily="18" charset="0"/>
              <a:cs typeface="Times New Roman" panose="02020603050405020304" pitchFamily="18" charset="0"/>
            </a:rPr>
            <a:t>It is endorsed to design sector-specific strategies that balance automation adoption with human expertise, safeguarding productivity and resilience. </a:t>
          </a:r>
          <a:endParaRPr lang="en-IN" sz="2000" kern="1200" dirty="0">
            <a:solidFill>
              <a:schemeClr val="bg1"/>
            </a:solidFill>
            <a:latin typeface="Times New Roman" panose="02020603050405020304" pitchFamily="18" charset="0"/>
            <a:cs typeface="Times New Roman" panose="02020603050405020304" pitchFamily="18" charset="0"/>
          </a:endParaRPr>
        </a:p>
      </dsp:txBody>
      <dsp:txXfrm>
        <a:off x="635677" y="3975323"/>
        <a:ext cx="9830333" cy="11454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2CD947-D6BD-4B63-AFE8-7ECCB272F55B}">
      <dsp:nvSpPr>
        <dsp:cNvPr id="0" name=""/>
        <dsp:cNvSpPr/>
      </dsp:nvSpPr>
      <dsp:spPr>
        <a:xfrm>
          <a:off x="9520" y="1027645"/>
          <a:ext cx="2845696" cy="377332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150000"/>
            </a:lnSpc>
            <a:spcBef>
              <a:spcPct val="0"/>
            </a:spcBef>
            <a:spcAft>
              <a:spcPct val="35000"/>
            </a:spcAft>
            <a:buNone/>
          </a:pPr>
          <a:r>
            <a:rPr lang="en-US" sz="2000" kern="1200" dirty="0">
              <a:solidFill>
                <a:schemeClr val="bg1"/>
              </a:solidFill>
              <a:latin typeface="Times New Roman" panose="02020603050405020304" pitchFamily="18" charset="0"/>
              <a:cs typeface="Times New Roman" panose="02020603050405020304" pitchFamily="18" charset="0"/>
            </a:rPr>
            <a:t>The alignment of skill gaps with automation risk highlights the urgency for industries to proactively prepare their workforce for technological disruption. </a:t>
          </a:r>
          <a:endParaRPr lang="en-IN" sz="2000" kern="1200" dirty="0">
            <a:solidFill>
              <a:schemeClr val="bg1"/>
            </a:solidFill>
            <a:latin typeface="Times New Roman" panose="02020603050405020304" pitchFamily="18" charset="0"/>
            <a:cs typeface="Times New Roman" panose="02020603050405020304" pitchFamily="18" charset="0"/>
          </a:endParaRPr>
        </a:p>
      </dsp:txBody>
      <dsp:txXfrm>
        <a:off x="92868" y="1110993"/>
        <a:ext cx="2679000" cy="3606631"/>
      </dsp:txXfrm>
    </dsp:sp>
    <dsp:sp modelId="{BFCFC6C1-B440-4B25-BDA8-FAFA53A16AB1}">
      <dsp:nvSpPr>
        <dsp:cNvPr id="0" name=""/>
        <dsp:cNvSpPr/>
      </dsp:nvSpPr>
      <dsp:spPr>
        <a:xfrm>
          <a:off x="3139787" y="2561442"/>
          <a:ext cx="603287" cy="705732"/>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77950">
            <a:lnSpc>
              <a:spcPct val="90000"/>
            </a:lnSpc>
            <a:spcBef>
              <a:spcPct val="0"/>
            </a:spcBef>
            <a:spcAft>
              <a:spcPct val="35000"/>
            </a:spcAft>
            <a:buNone/>
          </a:pPr>
          <a:endParaRPr lang="en-IN" sz="3100" kern="1200"/>
        </a:p>
      </dsp:txBody>
      <dsp:txXfrm>
        <a:off x="3139787" y="2702588"/>
        <a:ext cx="422301" cy="423440"/>
      </dsp:txXfrm>
    </dsp:sp>
    <dsp:sp modelId="{ADB1634D-5A1D-41D1-995A-5DC85877CD86}">
      <dsp:nvSpPr>
        <dsp:cNvPr id="0" name=""/>
        <dsp:cNvSpPr/>
      </dsp:nvSpPr>
      <dsp:spPr>
        <a:xfrm>
          <a:off x="3993496" y="1027645"/>
          <a:ext cx="2845696" cy="377332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150000"/>
            </a:lnSpc>
            <a:spcBef>
              <a:spcPct val="0"/>
            </a:spcBef>
            <a:spcAft>
              <a:spcPct val="35000"/>
            </a:spcAft>
            <a:buNone/>
          </a:pPr>
          <a:r>
            <a:rPr lang="en-US" sz="2000" kern="1200" dirty="0">
              <a:solidFill>
                <a:schemeClr val="bg1"/>
              </a:solidFill>
              <a:latin typeface="Times New Roman" panose="02020603050405020304" pitchFamily="18" charset="0"/>
              <a:cs typeface="Times New Roman" panose="02020603050405020304" pitchFamily="18" charset="0"/>
            </a:rPr>
            <a:t>Cross-sector patterns reveal that no industry is immune, reinforcing the importance of collective investment in reskilling and adaptability. </a:t>
          </a:r>
          <a:endParaRPr lang="en-IN" sz="2000" kern="1200" dirty="0">
            <a:solidFill>
              <a:schemeClr val="bg1"/>
            </a:solidFill>
            <a:latin typeface="Times New Roman" panose="02020603050405020304" pitchFamily="18" charset="0"/>
            <a:cs typeface="Times New Roman" panose="02020603050405020304" pitchFamily="18" charset="0"/>
          </a:endParaRPr>
        </a:p>
      </dsp:txBody>
      <dsp:txXfrm>
        <a:off x="4076844" y="1110993"/>
        <a:ext cx="2679000" cy="3606631"/>
      </dsp:txXfrm>
    </dsp:sp>
    <dsp:sp modelId="{706602CC-4F83-4B31-829B-5F29F6B5C362}">
      <dsp:nvSpPr>
        <dsp:cNvPr id="0" name=""/>
        <dsp:cNvSpPr/>
      </dsp:nvSpPr>
      <dsp:spPr>
        <a:xfrm>
          <a:off x="7123763" y="2561442"/>
          <a:ext cx="603287" cy="705732"/>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77950">
            <a:lnSpc>
              <a:spcPct val="90000"/>
            </a:lnSpc>
            <a:spcBef>
              <a:spcPct val="0"/>
            </a:spcBef>
            <a:spcAft>
              <a:spcPct val="35000"/>
            </a:spcAft>
            <a:buNone/>
          </a:pPr>
          <a:endParaRPr lang="en-IN" sz="3100" kern="1200"/>
        </a:p>
      </dsp:txBody>
      <dsp:txXfrm>
        <a:off x="7123763" y="2702588"/>
        <a:ext cx="422301" cy="423440"/>
      </dsp:txXfrm>
    </dsp:sp>
    <dsp:sp modelId="{29935C00-CBD4-4846-9DC0-72F695192B22}">
      <dsp:nvSpPr>
        <dsp:cNvPr id="0" name=""/>
        <dsp:cNvSpPr/>
      </dsp:nvSpPr>
      <dsp:spPr>
        <a:xfrm>
          <a:off x="7977472" y="1027645"/>
          <a:ext cx="2845696" cy="377332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150000"/>
            </a:lnSpc>
            <a:spcBef>
              <a:spcPct val="0"/>
            </a:spcBef>
            <a:spcAft>
              <a:spcPct val="35000"/>
            </a:spcAft>
            <a:buNone/>
          </a:pPr>
          <a:r>
            <a:rPr lang="en-US" sz="2000" kern="1200" dirty="0">
              <a:solidFill>
                <a:schemeClr val="bg1"/>
              </a:solidFill>
              <a:latin typeface="Times New Roman" panose="02020603050405020304" pitchFamily="18" charset="0"/>
              <a:cs typeface="Times New Roman" panose="02020603050405020304" pitchFamily="18" charset="0"/>
            </a:rPr>
            <a:t>The overall trend underscores that balancing automation adoption with human capability is essential to sustain competitiveness and resilience in the future economy. </a:t>
          </a:r>
          <a:endParaRPr lang="en-IN" sz="2000" kern="1200" dirty="0">
            <a:solidFill>
              <a:schemeClr val="bg1"/>
            </a:solidFill>
            <a:latin typeface="Times New Roman" panose="02020603050405020304" pitchFamily="18" charset="0"/>
            <a:cs typeface="Times New Roman" panose="02020603050405020304" pitchFamily="18" charset="0"/>
          </a:endParaRPr>
        </a:p>
      </dsp:txBody>
      <dsp:txXfrm>
        <a:off x="8060820" y="1110993"/>
        <a:ext cx="2679000" cy="360663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5F40A1F-BE88-4A23-8EDD-65D84CADE681}"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255346" y="2750337"/>
            <a:ext cx="1171888" cy="1356442"/>
          </a:xfrm>
        </p:spPr>
        <p:txBody>
          <a:bodyPr/>
          <a:lstStyle/>
          <a:p>
            <a:fld id="{59FD878F-2DD8-47A5-B293-3CF32CCF5A68}" type="slidenum">
              <a:rPr lang="en-IN" smtClean="0"/>
              <a:t>‹#›</a:t>
            </a:fld>
            <a:endParaRPr lang="en-IN"/>
          </a:p>
        </p:txBody>
      </p:sp>
    </p:spTree>
    <p:extLst>
      <p:ext uri="{BB962C8B-B14F-4D97-AF65-F5344CB8AC3E}">
        <p14:creationId xmlns:p14="http://schemas.microsoft.com/office/powerpoint/2010/main" val="2388386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F40A1F-BE88-4A23-8EDD-65D84CADE681}"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FD878F-2DD8-47A5-B293-3CF32CCF5A68}" type="slidenum">
              <a:rPr lang="en-IN" smtClean="0"/>
              <a:t>‹#›</a:t>
            </a:fld>
            <a:endParaRPr lang="en-IN"/>
          </a:p>
        </p:txBody>
      </p:sp>
    </p:spTree>
    <p:extLst>
      <p:ext uri="{BB962C8B-B14F-4D97-AF65-F5344CB8AC3E}">
        <p14:creationId xmlns:p14="http://schemas.microsoft.com/office/powerpoint/2010/main" val="2621851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F40A1F-BE88-4A23-8EDD-65D84CADE681}"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729455" y="2869895"/>
            <a:ext cx="1154151" cy="1090789"/>
          </a:xfrm>
        </p:spPr>
        <p:txBody>
          <a:bodyPr/>
          <a:lstStyle/>
          <a:p>
            <a:fld id="{59FD878F-2DD8-47A5-B293-3CF32CCF5A68}" type="slidenum">
              <a:rPr lang="en-IN" smtClean="0"/>
              <a:t>‹#›</a:t>
            </a:fld>
            <a:endParaRPr lang="en-IN"/>
          </a:p>
        </p:txBody>
      </p:sp>
    </p:spTree>
    <p:extLst>
      <p:ext uri="{BB962C8B-B14F-4D97-AF65-F5344CB8AC3E}">
        <p14:creationId xmlns:p14="http://schemas.microsoft.com/office/powerpoint/2010/main" val="2179418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F40A1F-BE88-4A23-8EDD-65D84CADE681}" type="datetimeFigureOut">
              <a:rPr lang="en-IN" smtClean="0"/>
              <a:t>27-02-2026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FD878F-2DD8-47A5-B293-3CF32CCF5A68}" type="slidenum">
              <a:rPr lang="en-IN" smtClean="0"/>
              <a:t>‹#›</a:t>
            </a:fld>
            <a:endParaRPr lang="en-IN"/>
          </a:p>
        </p:txBody>
      </p:sp>
    </p:spTree>
    <p:extLst>
      <p:ext uri="{BB962C8B-B14F-4D97-AF65-F5344CB8AC3E}">
        <p14:creationId xmlns:p14="http://schemas.microsoft.com/office/powerpoint/2010/main" val="1579843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F40A1F-BE88-4A23-8EDD-65D84CADE681}" type="datetimeFigureOut">
              <a:rPr lang="en-IN" smtClean="0"/>
              <a:t>27-02-2026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FD878F-2DD8-47A5-B293-3CF32CCF5A68}" type="slidenum">
              <a:rPr lang="en-IN" smtClean="0"/>
              <a:t>‹#›</a:t>
            </a:fld>
            <a:endParaRPr lang="en-IN"/>
          </a:p>
        </p:txBody>
      </p:sp>
    </p:spTree>
    <p:extLst>
      <p:ext uri="{BB962C8B-B14F-4D97-AF65-F5344CB8AC3E}">
        <p14:creationId xmlns:p14="http://schemas.microsoft.com/office/powerpoint/2010/main" val="3595336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F40A1F-BE88-4A23-8EDD-65D84CADE681}" type="datetimeFigureOut">
              <a:rPr lang="en-IN" smtClean="0"/>
              <a:t>27-02-2026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FD878F-2DD8-47A5-B293-3CF32CCF5A68}" type="slidenum">
              <a:rPr lang="en-IN" smtClean="0"/>
              <a:t>‹#›</a:t>
            </a:fld>
            <a:endParaRPr lang="en-IN"/>
          </a:p>
        </p:txBody>
      </p:sp>
    </p:spTree>
    <p:extLst>
      <p:ext uri="{BB962C8B-B14F-4D97-AF65-F5344CB8AC3E}">
        <p14:creationId xmlns:p14="http://schemas.microsoft.com/office/powerpoint/2010/main" val="3755715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45F40A1F-BE88-4A23-8EDD-65D84CADE681}" type="datetimeFigureOut">
              <a:rPr lang="en-IN" smtClean="0"/>
              <a:t>27-02-2026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9FD878F-2DD8-47A5-B293-3CF32CCF5A68}" type="slidenum">
              <a:rPr lang="en-IN" smtClean="0"/>
              <a:t>‹#›</a:t>
            </a:fld>
            <a:endParaRPr lang="en-IN"/>
          </a:p>
        </p:txBody>
      </p:sp>
    </p:spTree>
    <p:extLst>
      <p:ext uri="{BB962C8B-B14F-4D97-AF65-F5344CB8AC3E}">
        <p14:creationId xmlns:p14="http://schemas.microsoft.com/office/powerpoint/2010/main" val="777235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F40A1F-BE88-4A23-8EDD-65D84CADE681}" type="datetimeFigureOut">
              <a:rPr lang="en-IN" smtClean="0"/>
              <a:t>27-02-2026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FD878F-2DD8-47A5-B293-3CF32CCF5A68}" type="slidenum">
              <a:rPr lang="en-IN" smtClean="0"/>
              <a:t>‹#›</a:t>
            </a:fld>
            <a:endParaRPr lang="en-IN"/>
          </a:p>
        </p:txBody>
      </p:sp>
    </p:spTree>
    <p:extLst>
      <p:ext uri="{BB962C8B-B14F-4D97-AF65-F5344CB8AC3E}">
        <p14:creationId xmlns:p14="http://schemas.microsoft.com/office/powerpoint/2010/main" val="1493247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F40A1F-BE88-4A23-8EDD-65D84CADE681}" type="datetimeFigureOut">
              <a:rPr lang="en-IN" smtClean="0"/>
              <a:t>27-02-2026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FD878F-2DD8-47A5-B293-3CF32CCF5A68}" type="slidenum">
              <a:rPr lang="en-IN" smtClean="0"/>
              <a:t>‹#›</a:t>
            </a:fld>
            <a:endParaRPr lang="en-IN"/>
          </a:p>
        </p:txBody>
      </p:sp>
    </p:spTree>
    <p:extLst>
      <p:ext uri="{BB962C8B-B14F-4D97-AF65-F5344CB8AC3E}">
        <p14:creationId xmlns:p14="http://schemas.microsoft.com/office/powerpoint/2010/main" val="1425364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F40A1F-BE88-4A23-8EDD-65D84CADE681}" type="datetimeFigureOut">
              <a:rPr lang="en-IN" smtClean="0"/>
              <a:t>27-02-2026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309"/>
            <a:ext cx="1154151" cy="1090789"/>
          </a:xfrm>
        </p:spPr>
        <p:txBody>
          <a:bodyPr/>
          <a:lstStyle/>
          <a:p>
            <a:fld id="{59FD878F-2DD8-47A5-B293-3CF32CCF5A68}" type="slidenum">
              <a:rPr lang="en-IN" smtClean="0"/>
              <a:t>‹#›</a:t>
            </a:fld>
            <a:endParaRPr lang="en-IN"/>
          </a:p>
        </p:txBody>
      </p:sp>
    </p:spTree>
    <p:extLst>
      <p:ext uri="{BB962C8B-B14F-4D97-AF65-F5344CB8AC3E}">
        <p14:creationId xmlns:p14="http://schemas.microsoft.com/office/powerpoint/2010/main" val="2633884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F40A1F-BE88-4A23-8EDD-65D84CADE681}" type="datetimeFigureOut">
              <a:rPr lang="en-IN" smtClean="0"/>
              <a:t>27-02-2026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615"/>
            <a:ext cx="1154151" cy="1090789"/>
          </a:xfrm>
        </p:spPr>
        <p:txBody>
          <a:bodyPr/>
          <a:lstStyle/>
          <a:p>
            <a:fld id="{59FD878F-2DD8-47A5-B293-3CF32CCF5A68}" type="slidenum">
              <a:rPr lang="en-IN" smtClean="0"/>
              <a:t>‹#›</a:t>
            </a:fld>
            <a:endParaRPr lang="en-IN"/>
          </a:p>
        </p:txBody>
      </p:sp>
    </p:spTree>
    <p:extLst>
      <p:ext uri="{BB962C8B-B14F-4D97-AF65-F5344CB8AC3E}">
        <p14:creationId xmlns:p14="http://schemas.microsoft.com/office/powerpoint/2010/main" val="88528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F40A1F-BE88-4A23-8EDD-65D84CADE681}" type="datetimeFigureOut">
              <a:rPr lang="en-IN" smtClean="0"/>
              <a:t>27-02-2026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09925"/>
            <a:ext cx="1154151" cy="1090789"/>
          </a:xfrm>
        </p:spPr>
        <p:txBody>
          <a:bodyPr/>
          <a:lstStyle/>
          <a:p>
            <a:fld id="{59FD878F-2DD8-47A5-B293-3CF32CCF5A68}" type="slidenum">
              <a:rPr lang="en-IN" smtClean="0"/>
              <a:t>‹#›</a:t>
            </a:fld>
            <a:endParaRPr lang="en-IN"/>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29160989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F40A1F-BE88-4A23-8EDD-65D84CADE681}" type="datetimeFigureOut">
              <a:rPr lang="en-IN" smtClean="0"/>
              <a:t>27-02-2026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09925"/>
            <a:ext cx="1154151" cy="1090789"/>
          </a:xfrm>
        </p:spPr>
        <p:txBody>
          <a:bodyPr/>
          <a:lstStyle/>
          <a:p>
            <a:fld id="{59FD878F-2DD8-47A5-B293-3CF32CCF5A68}" type="slidenum">
              <a:rPr lang="en-IN" smtClean="0"/>
              <a:t>‹#›</a:t>
            </a:fld>
            <a:endParaRPr lang="en-IN"/>
          </a:p>
        </p:txBody>
      </p:sp>
    </p:spTree>
    <p:extLst>
      <p:ext uri="{BB962C8B-B14F-4D97-AF65-F5344CB8AC3E}">
        <p14:creationId xmlns:p14="http://schemas.microsoft.com/office/powerpoint/2010/main" val="36393604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F40A1F-BE88-4A23-8EDD-65D84CADE681}" type="datetimeFigureOut">
              <a:rPr lang="en-IN" smtClean="0"/>
              <a:t>27-02-2026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FD878F-2DD8-47A5-B293-3CF32CCF5A68}" type="slidenum">
              <a:rPr lang="en-IN" smtClean="0"/>
              <a:t>‹#›</a:t>
            </a:fld>
            <a:endParaRPr lang="en-IN"/>
          </a:p>
        </p:txBody>
      </p:sp>
    </p:spTree>
    <p:extLst>
      <p:ext uri="{BB962C8B-B14F-4D97-AF65-F5344CB8AC3E}">
        <p14:creationId xmlns:p14="http://schemas.microsoft.com/office/powerpoint/2010/main" val="9037144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F40A1F-BE88-4A23-8EDD-65D84CADE681}" type="datetimeFigureOut">
              <a:rPr lang="en-IN" smtClean="0"/>
              <a:t>27-02-2026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FD878F-2DD8-47A5-B293-3CF32CCF5A68}" type="slidenum">
              <a:rPr lang="en-IN" smtClean="0"/>
              <a:t>‹#›</a:t>
            </a:fld>
            <a:endParaRPr lang="en-IN"/>
          </a:p>
        </p:txBody>
      </p:sp>
    </p:spTree>
    <p:extLst>
      <p:ext uri="{BB962C8B-B14F-4D97-AF65-F5344CB8AC3E}">
        <p14:creationId xmlns:p14="http://schemas.microsoft.com/office/powerpoint/2010/main" val="2625649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F40A1F-BE88-4A23-8EDD-65D84CADE681}"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FD878F-2DD8-47A5-B293-3CF32CCF5A68}" type="slidenum">
              <a:rPr lang="en-IN" smtClean="0"/>
              <a:t>‹#›</a:t>
            </a:fld>
            <a:endParaRPr lang="en-IN"/>
          </a:p>
        </p:txBody>
      </p:sp>
    </p:spTree>
    <p:extLst>
      <p:ext uri="{BB962C8B-B14F-4D97-AF65-F5344CB8AC3E}">
        <p14:creationId xmlns:p14="http://schemas.microsoft.com/office/powerpoint/2010/main" val="23810500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45F40A1F-BE88-4A23-8EDD-65D84CADE681}" type="datetimeFigureOut">
              <a:rPr lang="en-IN" smtClean="0"/>
              <a:t>27-02-2026</a:t>
            </a:fld>
            <a:endParaRPr lang="en-IN"/>
          </a:p>
        </p:txBody>
      </p:sp>
      <p:sp>
        <p:nvSpPr>
          <p:cNvPr id="5" name="Footer Placeholder 4"/>
          <p:cNvSpPr>
            <a:spLocks noGrp="1"/>
          </p:cNvSpPr>
          <p:nvPr>
            <p:ph type="ftr" sz="quarter" idx="11"/>
          </p:nvPr>
        </p:nvSpPr>
        <p:spPr>
          <a:xfrm>
            <a:off x="680321" y="5936188"/>
            <a:ext cx="6126805" cy="365125"/>
          </a:xfrm>
        </p:spPr>
        <p:txBody>
          <a:bodyPr/>
          <a:lstStyle/>
          <a:p>
            <a:endParaRPr lang="en-IN"/>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59FD878F-2DD8-47A5-B293-3CF32CCF5A68}" type="slidenum">
              <a:rPr lang="en-IN" smtClean="0"/>
              <a:t>‹#›</a:t>
            </a:fld>
            <a:endParaRPr lang="en-IN"/>
          </a:p>
        </p:txBody>
      </p:sp>
    </p:spTree>
    <p:extLst>
      <p:ext uri="{BB962C8B-B14F-4D97-AF65-F5344CB8AC3E}">
        <p14:creationId xmlns:p14="http://schemas.microsoft.com/office/powerpoint/2010/main" val="21263188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798F5-0016-1CA0-146B-7AE28771B4EB}"/>
              </a:ext>
            </a:extLst>
          </p:cNvPr>
          <p:cNvSpPr>
            <a:spLocks noGrp="1"/>
          </p:cNvSpPr>
          <p:nvPr>
            <p:ph type="title"/>
          </p:nvPr>
        </p:nvSpPr>
        <p:spPr>
          <a:xfrm>
            <a:off x="838200" y="93086"/>
            <a:ext cx="10515600" cy="734002"/>
          </a:xfrm>
        </p:spPr>
        <p:txBody>
          <a:bodyPr/>
          <a:lstStyle>
            <a:lvl1pPr algn="ctr">
              <a:lnSpc>
                <a:spcPct val="150000"/>
              </a:lnSpc>
              <a:defRPr b="1">
                <a:latin typeface="Times New Roman" panose="02020603050405020304" pitchFamily="18" charset="0"/>
                <a:cs typeface="Times New Roman" panose="02020603050405020304" pitchFamily="18" charset="0"/>
              </a:defRPr>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3E479F8F-1AF9-061E-C8EF-59F170CC06B0}"/>
              </a:ext>
            </a:extLst>
          </p:cNvPr>
          <p:cNvSpPr>
            <a:spLocks noGrp="1"/>
          </p:cNvSpPr>
          <p:nvPr>
            <p:ph idx="1"/>
          </p:nvPr>
        </p:nvSpPr>
        <p:spPr/>
        <p:txBody>
          <a:bodyPr/>
          <a:lstStyle>
            <a:lvl1pPr>
              <a:defRPr sz="2000">
                <a:latin typeface="Times New Roman" panose="02020603050405020304" pitchFamily="18" charset="0"/>
                <a:cs typeface="Times New Roman" panose="02020603050405020304" pitchFamily="18" charset="0"/>
              </a:defRPr>
            </a:lvl1pPr>
            <a:lvl2pPr>
              <a:defRPr sz="2000">
                <a:latin typeface="Times New Roman" panose="02020603050405020304" pitchFamily="18" charset="0"/>
                <a:cs typeface="Times New Roman" panose="02020603050405020304" pitchFamily="18" charset="0"/>
              </a:defRPr>
            </a:lvl2pPr>
            <a:lvl3pPr>
              <a:defRPr sz="2000">
                <a:latin typeface="Times New Roman" panose="02020603050405020304" pitchFamily="18" charset="0"/>
                <a:cs typeface="Times New Roman" panose="02020603050405020304" pitchFamily="18" charset="0"/>
              </a:defRPr>
            </a:lvl3pPr>
            <a:lvl4pPr>
              <a:defRPr sz="2000">
                <a:latin typeface="Times New Roman" panose="02020603050405020304" pitchFamily="18" charset="0"/>
                <a:cs typeface="Times New Roman" panose="02020603050405020304" pitchFamily="18" charset="0"/>
              </a:defRPr>
            </a:lvl4pPr>
            <a:lvl5pPr>
              <a:defRPr sz="20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C8CBA3E7-AADF-E8F5-C436-30DD3DA87660}"/>
              </a:ext>
            </a:extLst>
          </p:cNvPr>
          <p:cNvSpPr>
            <a:spLocks noGrp="1"/>
          </p:cNvSpPr>
          <p:nvPr>
            <p:ph type="dt" sz="half" idx="10"/>
          </p:nvPr>
        </p:nvSpPr>
        <p:spPr/>
        <p:txBody>
          <a:bodyPr/>
          <a:lstStyle/>
          <a:p>
            <a:fld id="{45F40A1F-BE88-4A23-8EDD-65D84CADE681}" type="datetimeFigureOut">
              <a:rPr lang="en-IN" smtClean="0"/>
              <a:t>27-02-2026</a:t>
            </a:fld>
            <a:endParaRPr lang="en-IN"/>
          </a:p>
        </p:txBody>
      </p:sp>
      <p:sp>
        <p:nvSpPr>
          <p:cNvPr id="5" name="Footer Placeholder 4">
            <a:extLst>
              <a:ext uri="{FF2B5EF4-FFF2-40B4-BE49-F238E27FC236}">
                <a16:creationId xmlns:a16="http://schemas.microsoft.com/office/drawing/2014/main" id="{160AA9AB-6DBF-FF1B-0CED-535949802B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04BB67-4BF0-815C-8B79-141EC8A34A4A}"/>
              </a:ext>
            </a:extLst>
          </p:cNvPr>
          <p:cNvSpPr>
            <a:spLocks noGrp="1"/>
          </p:cNvSpPr>
          <p:nvPr>
            <p:ph type="sldNum" sz="quarter" idx="12"/>
          </p:nvPr>
        </p:nvSpPr>
        <p:spPr/>
        <p:txBody>
          <a:bodyPr/>
          <a:lstStyle/>
          <a:p>
            <a:fld id="{59FD878F-2DD8-47A5-B293-3CF32CCF5A68}" type="slidenum">
              <a:rPr lang="en-IN" smtClean="0"/>
              <a:t>‹#›</a:t>
            </a:fld>
            <a:endParaRPr lang="en-IN"/>
          </a:p>
        </p:txBody>
      </p:sp>
      <p:sp>
        <p:nvSpPr>
          <p:cNvPr id="8" name="Content Placeholder 7">
            <a:extLst>
              <a:ext uri="{FF2B5EF4-FFF2-40B4-BE49-F238E27FC236}">
                <a16:creationId xmlns:a16="http://schemas.microsoft.com/office/drawing/2014/main" id="{93D0A377-A048-A216-C4F6-B7F1FC011094}"/>
              </a:ext>
            </a:extLst>
          </p:cNvPr>
          <p:cNvSpPr>
            <a:spLocks noGrp="1"/>
          </p:cNvSpPr>
          <p:nvPr>
            <p:ph sz="quarter" idx="13"/>
          </p:nvPr>
        </p:nvSpPr>
        <p:spPr>
          <a:xfrm>
            <a:off x="4811713" y="1006475"/>
            <a:ext cx="914400" cy="914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809681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49000">
              <a:srgbClr val="FFC000"/>
            </a:gs>
            <a:gs pos="100000">
              <a:schemeClr val="bg2">
                <a:shade val="100000"/>
                <a:hueMod val="100000"/>
                <a:satMod val="110000"/>
                <a:lumMod val="130000"/>
              </a:schemeClr>
            </a:gs>
            <a:gs pos="100000">
              <a:schemeClr val="bg2">
                <a:shade val="78000"/>
                <a:hueMod val="106000"/>
                <a:satMod val="120000"/>
                <a:lumMod val="79000"/>
              </a:schemeClr>
            </a:gs>
          </a:gsLst>
          <a:lin ang="2520000" scaled="0"/>
          <a:tileRect/>
        </a:gradFill>
        <a:effectLst/>
      </p:bgPr>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20">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5F40A1F-BE88-4A23-8EDD-65D84CADE681}" type="datetimeFigureOut">
              <a:rPr lang="en-IN" smtClean="0"/>
              <a:t>27-02-2026</a:t>
            </a:fld>
            <a:endParaRPr lang="en-IN"/>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59FD878F-2DD8-47A5-B293-3CF32CCF5A68}" type="slidenum">
              <a:rPr lang="en-IN" smtClean="0"/>
              <a:t>‹#›</a:t>
            </a:fld>
            <a:endParaRPr lang="en-IN"/>
          </a:p>
        </p:txBody>
      </p:sp>
    </p:spTree>
    <p:extLst>
      <p:ext uri="{BB962C8B-B14F-4D97-AF65-F5344CB8AC3E}">
        <p14:creationId xmlns:p14="http://schemas.microsoft.com/office/powerpoint/2010/main" val="3767636153"/>
      </p:ext>
    </p:extLst>
  </p:cSld>
  <p:clrMap bg1="dk1" tx1="lt1" bg2="dk2" tx2="lt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 id="2147483734" r:id="rId17"/>
    <p:sldLayoutId id="2147483735" r:id="rId18"/>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effectLst>
            <a:outerShdw blurRad="228600" algn="ctr" rotWithShape="0">
              <a:prstClr val="black">
                <a:alpha val="53000"/>
              </a:prstClr>
            </a:outerShdw>
          </a:effectLst>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effectLst>
            <a:outerShdw blurRad="228600" algn="ctr" rotWithShape="0">
              <a:prstClr val="black">
                <a:alpha val="53000"/>
              </a:prstClr>
            </a:outerShdw>
          </a:effectLst>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effectLst>
            <a:outerShdw blurRad="228600" algn="ctr" rotWithShape="0">
              <a:prstClr val="black">
                <a:alpha val="53000"/>
              </a:prstClr>
            </a:outerShdw>
          </a:effectLst>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effectLst>
            <a:outerShdw blurRad="228600" algn="ctr" rotWithShape="0">
              <a:prstClr val="black">
                <a:alpha val="53000"/>
              </a:prstClr>
            </a:outerShdw>
          </a:effectLst>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effectLst>
            <a:outerShdw blurRad="228600" algn="ctr" rotWithShape="0">
              <a:prstClr val="black">
                <a:alpha val="53000"/>
              </a:prstClr>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7CC778-8945-0692-AD23-F1B1E1190ACC}"/>
              </a:ext>
            </a:extLst>
          </p:cNvPr>
          <p:cNvSpPr/>
          <p:nvPr/>
        </p:nvSpPr>
        <p:spPr>
          <a:xfrm>
            <a:off x="2851355" y="403123"/>
            <a:ext cx="5928851" cy="175997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IN" sz="4800" b="1" dirty="0">
                <a:solidFill>
                  <a:schemeClr val="bg1"/>
                </a:solidFill>
                <a:latin typeface="Times New Roman" panose="02020603050405020304" pitchFamily="18" charset="0"/>
                <a:cs typeface="Times New Roman" panose="02020603050405020304" pitchFamily="18" charset="0"/>
              </a:rPr>
              <a:t>AI Job Replacement: 2020-2026</a:t>
            </a:r>
          </a:p>
        </p:txBody>
      </p:sp>
      <p:sp>
        <p:nvSpPr>
          <p:cNvPr id="6" name="TextBox 5">
            <a:extLst>
              <a:ext uri="{FF2B5EF4-FFF2-40B4-BE49-F238E27FC236}">
                <a16:creationId xmlns:a16="http://schemas.microsoft.com/office/drawing/2014/main" id="{7EF8ED08-8AB3-37E5-F404-8D952EBDA781}"/>
              </a:ext>
            </a:extLst>
          </p:cNvPr>
          <p:cNvSpPr txBox="1"/>
          <p:nvPr/>
        </p:nvSpPr>
        <p:spPr>
          <a:xfrm>
            <a:off x="2979174" y="4335001"/>
            <a:ext cx="6096000" cy="2345066"/>
          </a:xfrm>
          <a:prstGeom prst="rect">
            <a:avLst/>
          </a:prstGeom>
          <a:noFill/>
        </p:spPr>
        <p:txBody>
          <a:bodyPr wrap="square">
            <a:spAutoFit/>
          </a:bodyPr>
          <a:lstStyle/>
          <a:p>
            <a:pPr algn="ctr">
              <a:lnSpc>
                <a:spcPct val="150000"/>
              </a:lnSpc>
            </a:pPr>
            <a:r>
              <a:rPr lang="en-US" sz="2000" dirty="0">
                <a:solidFill>
                  <a:schemeClr val="bg1"/>
                </a:solidFill>
                <a:latin typeface="Times New Roman" panose="02020603050405020304" pitchFamily="18" charset="0"/>
                <a:cs typeface="Times New Roman" panose="02020603050405020304" pitchFamily="18" charset="0"/>
              </a:rPr>
              <a:t>DEBARUN  BANERJEE</a:t>
            </a:r>
            <a:br>
              <a:rPr lang="en-US" sz="2000" dirty="0">
                <a:solidFill>
                  <a:schemeClr val="bg1"/>
                </a:solidFill>
                <a:latin typeface="Times New Roman" panose="02020603050405020304" pitchFamily="18" charset="0"/>
                <a:cs typeface="Times New Roman" panose="02020603050405020304" pitchFamily="18" charset="0"/>
              </a:rPr>
            </a:br>
            <a:r>
              <a:rPr lang="en-US" sz="2000" dirty="0">
                <a:solidFill>
                  <a:schemeClr val="bg1"/>
                </a:solidFill>
                <a:latin typeface="Times New Roman" panose="02020603050405020304" pitchFamily="18" charset="0"/>
                <a:cs typeface="Times New Roman" panose="02020603050405020304" pitchFamily="18" charset="0"/>
              </a:rPr>
              <a:t>WEBSKITTERS  ACADEMY</a:t>
            </a:r>
            <a:br>
              <a:rPr lang="en-US" sz="2000" dirty="0">
                <a:solidFill>
                  <a:schemeClr val="bg1"/>
                </a:solidFill>
                <a:latin typeface="Times New Roman" panose="02020603050405020304" pitchFamily="18" charset="0"/>
                <a:cs typeface="Times New Roman" panose="02020603050405020304" pitchFamily="18" charset="0"/>
              </a:rPr>
            </a:br>
            <a:r>
              <a:rPr lang="en-US" sz="2000" dirty="0">
                <a:solidFill>
                  <a:schemeClr val="bg1"/>
                </a:solidFill>
                <a:latin typeface="Times New Roman" panose="02020603050405020304" pitchFamily="18" charset="0"/>
                <a:cs typeface="Times New Roman" panose="02020603050405020304" pitchFamily="18" charset="0"/>
              </a:rPr>
              <a:t>DATA  ANALYTICS  BATCH</a:t>
            </a:r>
            <a:br>
              <a:rPr lang="en-US" sz="2000" dirty="0">
                <a:solidFill>
                  <a:schemeClr val="bg1"/>
                </a:solidFill>
                <a:latin typeface="Times New Roman" panose="02020603050405020304" pitchFamily="18" charset="0"/>
                <a:cs typeface="Times New Roman" panose="02020603050405020304" pitchFamily="18" charset="0"/>
              </a:rPr>
            </a:br>
            <a:r>
              <a:rPr lang="en-US" sz="2000" dirty="0" err="1">
                <a:solidFill>
                  <a:schemeClr val="bg1"/>
                </a:solidFill>
                <a:latin typeface="Times New Roman" panose="02020603050405020304" pitchFamily="18" charset="0"/>
                <a:cs typeface="Times New Roman" panose="02020603050405020304" pitchFamily="18" charset="0"/>
              </a:rPr>
              <a:t>Batch</a:t>
            </a:r>
            <a:r>
              <a:rPr lang="en-US" sz="2000" dirty="0">
                <a:solidFill>
                  <a:schemeClr val="bg1"/>
                </a:solidFill>
                <a:latin typeface="Times New Roman" panose="02020603050405020304" pitchFamily="18" charset="0"/>
                <a:cs typeface="Times New Roman" panose="02020603050405020304" pitchFamily="18" charset="0"/>
              </a:rPr>
              <a:t>  ID: WTS-ACDMY-7979-5280</a:t>
            </a:r>
            <a:br>
              <a:rPr lang="en-US" sz="2000" dirty="0">
                <a:solidFill>
                  <a:schemeClr val="bg1"/>
                </a:solidFill>
                <a:latin typeface="Times New Roman" panose="02020603050405020304" pitchFamily="18" charset="0"/>
                <a:cs typeface="Times New Roman" panose="02020603050405020304" pitchFamily="18" charset="0"/>
              </a:rPr>
            </a:br>
            <a:r>
              <a:rPr lang="en-US" sz="2000" dirty="0">
                <a:solidFill>
                  <a:schemeClr val="bg1"/>
                </a:solidFill>
                <a:latin typeface="Times New Roman" panose="02020603050405020304" pitchFamily="18" charset="0"/>
                <a:cs typeface="Times New Roman" panose="02020603050405020304" pitchFamily="18" charset="0"/>
              </a:rPr>
              <a:t>Student ID:  WAPL30052520769</a:t>
            </a:r>
            <a:endParaRPr lang="en-IN" sz="2000" dirty="0">
              <a:solidFill>
                <a:schemeClr val="bg1"/>
              </a:solidFill>
            </a:endParaRPr>
          </a:p>
        </p:txBody>
      </p:sp>
    </p:spTree>
    <p:extLst>
      <p:ext uri="{BB962C8B-B14F-4D97-AF65-F5344CB8AC3E}">
        <p14:creationId xmlns:p14="http://schemas.microsoft.com/office/powerpoint/2010/main" val="2269056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EA80B-3E6C-7914-B232-100464FAE467}"/>
              </a:ext>
            </a:extLst>
          </p:cNvPr>
          <p:cNvSpPr>
            <a:spLocks noGrp="1"/>
          </p:cNvSpPr>
          <p:nvPr>
            <p:ph type="title"/>
          </p:nvPr>
        </p:nvSpPr>
        <p:spPr/>
        <p:txBody>
          <a:bodyPr>
            <a:noAutofit/>
          </a:bodyPr>
          <a:lstStyle/>
          <a:p>
            <a:r>
              <a:rPr lang="en-US" dirty="0">
                <a:solidFill>
                  <a:schemeClr val="bg1"/>
                </a:solidFill>
              </a:rPr>
              <a:t>Introduction</a:t>
            </a:r>
            <a:endParaRPr lang="en-IN" dirty="0">
              <a:solidFill>
                <a:schemeClr val="bg1"/>
              </a:solidFill>
            </a:endParaRPr>
          </a:p>
        </p:txBody>
      </p:sp>
      <p:sp>
        <p:nvSpPr>
          <p:cNvPr id="4" name="Rectangle 1">
            <a:extLst>
              <a:ext uri="{FF2B5EF4-FFF2-40B4-BE49-F238E27FC236}">
                <a16:creationId xmlns:a16="http://schemas.microsoft.com/office/drawing/2014/main" id="{6566D62B-7E37-F231-07AA-80618ADF3197}"/>
              </a:ext>
            </a:extLst>
          </p:cNvPr>
          <p:cNvSpPr>
            <a:spLocks noGrp="1" noChangeArrowheads="1"/>
          </p:cNvSpPr>
          <p:nvPr>
            <p:ph idx="1"/>
          </p:nvPr>
        </p:nvSpPr>
        <p:spPr bwMode="auto">
          <a:xfrm>
            <a:off x="280220" y="1467811"/>
            <a:ext cx="7113638" cy="4653646"/>
          </a:xfrm>
          <a:prstGeom prst="rect">
            <a:avLst/>
          </a:prstGeo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This project analyzes how increasing AI adoption levels are influencing </a:t>
            </a:r>
            <a:r>
              <a:rPr kumimoji="0" lang="en-US" altLang="en-US" b="1" i="0" u="none" strike="noStrike" cap="none" normalizeH="0" baseline="0" dirty="0">
                <a:ln>
                  <a:noFill/>
                </a:ln>
                <a:solidFill>
                  <a:schemeClr val="bg1"/>
                </a:solidFill>
                <a:effectLst/>
              </a:rPr>
              <a:t>automation risk, skill gaps, and salary dynamics</a:t>
            </a:r>
            <a:r>
              <a:rPr kumimoji="0" lang="en-US" altLang="en-US" b="0" i="0" u="none" strike="noStrike" cap="none" normalizeH="0" baseline="0" dirty="0">
                <a:ln>
                  <a:noFill/>
                </a:ln>
                <a:solidFill>
                  <a:schemeClr val="bg1"/>
                </a:solidFill>
                <a:effectLst/>
              </a:rPr>
              <a:t> across industries, job roles, and countries from 2020–2026.</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The analysis focuses on identifying whether AI is causing immediate wage disruption or gradually reshaping workforce requirements through rising automation exposure and widening skill gaps.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The objective is to provide data-driven insights that help organizations anticipate workforce transformation, reskilling needs, and long-term talent strategy in an AI-driven economy.</a:t>
            </a:r>
          </a:p>
        </p:txBody>
      </p:sp>
      <p:pic>
        <p:nvPicPr>
          <p:cNvPr id="10242" name="Picture 2" descr="135,400+ Ai Automation Stock Photos ...">
            <a:extLst>
              <a:ext uri="{FF2B5EF4-FFF2-40B4-BE49-F238E27FC236}">
                <a16:creationId xmlns:a16="http://schemas.microsoft.com/office/drawing/2014/main" id="{B3C58733-0316-2E12-1B5F-7EF6F95F57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34425" y="2439476"/>
            <a:ext cx="2805681" cy="1867053"/>
          </a:xfrm>
          <a:prstGeom prst="rect">
            <a:avLst/>
          </a:prstGeom>
          <a:ln w="889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1915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92436-531B-4C9F-3586-C869AC693A7E}"/>
              </a:ext>
            </a:extLst>
          </p:cNvPr>
          <p:cNvSpPr>
            <a:spLocks noGrp="1"/>
          </p:cNvSpPr>
          <p:nvPr>
            <p:ph type="title"/>
          </p:nvPr>
        </p:nvSpPr>
        <p:spPr/>
        <p:txBody>
          <a:bodyPr>
            <a:noAutofit/>
          </a:bodyPr>
          <a:lstStyle/>
          <a:p>
            <a:r>
              <a:rPr lang="en-US" dirty="0">
                <a:solidFill>
                  <a:schemeClr val="bg1"/>
                </a:solidFill>
              </a:rPr>
              <a:t>About the Dataset</a:t>
            </a:r>
            <a:endParaRPr lang="en-IN" dirty="0">
              <a:solidFill>
                <a:schemeClr val="bg1"/>
              </a:solidFill>
            </a:endParaRPr>
          </a:p>
        </p:txBody>
      </p:sp>
      <p:sp>
        <p:nvSpPr>
          <p:cNvPr id="4" name="Content Placeholder 3">
            <a:extLst>
              <a:ext uri="{FF2B5EF4-FFF2-40B4-BE49-F238E27FC236}">
                <a16:creationId xmlns:a16="http://schemas.microsoft.com/office/drawing/2014/main" id="{4B474FC9-44C8-6A25-B8E0-F49CCEB20628}"/>
              </a:ext>
            </a:extLst>
          </p:cNvPr>
          <p:cNvSpPr>
            <a:spLocks noGrp="1"/>
          </p:cNvSpPr>
          <p:nvPr>
            <p:ph sz="quarter" idx="13"/>
          </p:nvPr>
        </p:nvSpPr>
        <p:spPr/>
        <p:txBody>
          <a:bodyPr/>
          <a:lstStyle/>
          <a:p>
            <a:endParaRPr lang="en-IN"/>
          </a:p>
        </p:txBody>
      </p:sp>
      <p:sp>
        <p:nvSpPr>
          <p:cNvPr id="5" name="Rectangle 1">
            <a:extLst>
              <a:ext uri="{FF2B5EF4-FFF2-40B4-BE49-F238E27FC236}">
                <a16:creationId xmlns:a16="http://schemas.microsoft.com/office/drawing/2014/main" id="{9841B8E3-963E-4550-0755-EE1A1C31A70F}"/>
              </a:ext>
            </a:extLst>
          </p:cNvPr>
          <p:cNvSpPr>
            <a:spLocks noGrp="1" noChangeArrowheads="1"/>
          </p:cNvSpPr>
          <p:nvPr>
            <p:ph idx="1"/>
          </p:nvPr>
        </p:nvSpPr>
        <p:spPr bwMode="auto">
          <a:xfrm>
            <a:off x="375521" y="1006475"/>
            <a:ext cx="6454009" cy="5576976"/>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The dataset was sourced from </a:t>
            </a:r>
            <a:r>
              <a:rPr kumimoji="0" lang="en-US" altLang="en-US" b="1" i="0" u="none" strike="noStrike" cap="none" normalizeH="0" baseline="0" dirty="0">
                <a:ln>
                  <a:noFill/>
                </a:ln>
                <a:solidFill>
                  <a:schemeClr val="bg1"/>
                </a:solidFill>
                <a:effectLst/>
              </a:rPr>
              <a:t>Kaggle</a:t>
            </a:r>
            <a:r>
              <a:rPr kumimoji="0" lang="en-US" altLang="en-US" b="0" i="0" u="none" strike="noStrike" cap="none" normalizeH="0" baseline="0" dirty="0">
                <a:ln>
                  <a:noFill/>
                </a:ln>
                <a:solidFill>
                  <a:schemeClr val="bg1"/>
                </a:solidFill>
                <a:effectLst/>
              </a:rPr>
              <a:t> and contains multi-dimensional information on AI adoption levels, job roles, industries, countries, automation risk percentages, salary change metrics, and skill gap indices from 2020 to 2026.</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It integrates both workforce impact indicators (automation risk, skill gap index) and economic indicators (salary change %, salary impact categories), enabling cross-sectional and trend-based analysis.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The structured format allows relational modeling across industry, geography, and time, making it suitable for building an interactive Power BI dashboard with KPIs, </a:t>
            </a:r>
            <a:r>
              <a:rPr kumimoji="0" lang="en-US" altLang="en-US" b="0" i="0" u="none" strike="noStrike" cap="none" normalizeH="0" baseline="0" dirty="0" err="1">
                <a:ln>
                  <a:noFill/>
                </a:ln>
                <a:solidFill>
                  <a:schemeClr val="bg1"/>
                </a:solidFill>
                <a:effectLst/>
              </a:rPr>
              <a:t>drillthrough</a:t>
            </a:r>
            <a:r>
              <a:rPr kumimoji="0" lang="en-US" altLang="en-US" b="0" i="0" u="none" strike="noStrike" cap="none" normalizeH="0" baseline="0" dirty="0">
                <a:ln>
                  <a:noFill/>
                </a:ln>
                <a:solidFill>
                  <a:schemeClr val="bg1"/>
                </a:solidFill>
                <a:effectLst/>
              </a:rPr>
              <a:t>, and comparative insights.</a:t>
            </a:r>
          </a:p>
        </p:txBody>
      </p:sp>
      <p:pic>
        <p:nvPicPr>
          <p:cNvPr id="6" name="Picture 5">
            <a:extLst>
              <a:ext uri="{FF2B5EF4-FFF2-40B4-BE49-F238E27FC236}">
                <a16:creationId xmlns:a16="http://schemas.microsoft.com/office/drawing/2014/main" id="{9B692E14-6E05-864F-3C02-E91FFAB20364}"/>
              </a:ext>
            </a:extLst>
          </p:cNvPr>
          <p:cNvPicPr>
            <a:picLocks noChangeAspect="1"/>
          </p:cNvPicPr>
          <p:nvPr/>
        </p:nvPicPr>
        <p:blipFill>
          <a:blip r:embed="rId2"/>
          <a:stretch>
            <a:fillRect/>
          </a:stretch>
        </p:blipFill>
        <p:spPr>
          <a:xfrm>
            <a:off x="7385724" y="2084440"/>
            <a:ext cx="4550637" cy="2701184"/>
          </a:xfrm>
          <a:prstGeom prst="rect">
            <a:avLst/>
          </a:prstGeom>
        </p:spPr>
      </p:pic>
    </p:spTree>
    <p:extLst>
      <p:ext uri="{BB962C8B-B14F-4D97-AF65-F5344CB8AC3E}">
        <p14:creationId xmlns:p14="http://schemas.microsoft.com/office/powerpoint/2010/main" val="2858700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4D5E1-0B10-4BDB-C856-181D7A24F191}"/>
              </a:ext>
            </a:extLst>
          </p:cNvPr>
          <p:cNvSpPr>
            <a:spLocks noGrp="1"/>
          </p:cNvSpPr>
          <p:nvPr>
            <p:ph type="title"/>
          </p:nvPr>
        </p:nvSpPr>
        <p:spPr/>
        <p:txBody>
          <a:bodyPr>
            <a:noAutofit/>
          </a:bodyPr>
          <a:lstStyle/>
          <a:p>
            <a:r>
              <a:rPr lang="en-US" dirty="0">
                <a:solidFill>
                  <a:schemeClr val="bg1"/>
                </a:solidFill>
              </a:rPr>
              <a:t>Study Objectives</a:t>
            </a:r>
            <a:endParaRPr lang="en-IN" dirty="0">
              <a:solidFill>
                <a:schemeClr val="bg1"/>
              </a:solidFill>
            </a:endParaRPr>
          </a:p>
        </p:txBody>
      </p:sp>
      <p:sp>
        <p:nvSpPr>
          <p:cNvPr id="3" name="Rectangle: Rounded Corners 2">
            <a:extLst>
              <a:ext uri="{FF2B5EF4-FFF2-40B4-BE49-F238E27FC236}">
                <a16:creationId xmlns:a16="http://schemas.microsoft.com/office/drawing/2014/main" id="{DB0692E8-9985-4464-876B-F4BD32C3C5D6}"/>
              </a:ext>
            </a:extLst>
          </p:cNvPr>
          <p:cNvSpPr/>
          <p:nvPr/>
        </p:nvSpPr>
        <p:spPr>
          <a:xfrm>
            <a:off x="1085222" y="1612490"/>
            <a:ext cx="9435294" cy="474898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3">
            <a:extLst>
              <a:ext uri="{FF2B5EF4-FFF2-40B4-BE49-F238E27FC236}">
                <a16:creationId xmlns:a16="http://schemas.microsoft.com/office/drawing/2014/main" id="{9D1B6565-F6AA-2D8C-368B-52C8EC1A07F7}"/>
              </a:ext>
            </a:extLst>
          </p:cNvPr>
          <p:cNvSpPr>
            <a:spLocks noChangeArrowheads="1"/>
          </p:cNvSpPr>
          <p:nvPr/>
        </p:nvSpPr>
        <p:spPr bwMode="auto">
          <a:xfrm>
            <a:off x="1291159" y="1816645"/>
            <a:ext cx="9023420"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To compare automation risk levels across industries and countries using interactive map and industry-level visuals, identifying sectors most vulnerable to AI-driven disruption.</a:t>
            </a:r>
          </a:p>
          <a:p>
            <a:pPr marL="0" marR="0" lvl="0" indent="0" algn="just" defTabSz="914400" rtl="0" eaLnBrk="0" fontAlgn="base" latinLnBrk="0" hangingPunct="0">
              <a:lnSpc>
                <a:spcPct val="150000"/>
              </a:lnSpc>
              <a:spcBef>
                <a:spcPct val="0"/>
              </a:spcBef>
              <a:spcAft>
                <a:spcPct val="0"/>
              </a:spcAft>
              <a:buClrTx/>
              <a:buSzTx/>
              <a:tabLst/>
            </a:pPr>
            <a:endPar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To evaluate the relationship between skill gap index and automation exposure across job roles, highlighting areas where reskilling interventions are most urgent.</a:t>
            </a:r>
          </a:p>
          <a:p>
            <a:pPr marL="0" marR="0" lvl="0" indent="0" algn="just" defTabSz="914400" rtl="0" eaLnBrk="0" fontAlgn="base" latinLnBrk="0" hangingPunct="0">
              <a:lnSpc>
                <a:spcPct val="150000"/>
              </a:lnSpc>
              <a:spcBef>
                <a:spcPct val="0"/>
              </a:spcBef>
              <a:spcAft>
                <a:spcPct val="0"/>
              </a:spcAft>
              <a:buClrTx/>
              <a:buSzTx/>
              <a:tabLst/>
            </a:pPr>
            <a:endPar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To assess salary change trends alongside automation risk levels to determine whether AI adoption is leading to wage growth, stagnation, or structural compensation shifts.</a:t>
            </a:r>
          </a:p>
        </p:txBody>
      </p:sp>
    </p:spTree>
    <p:extLst>
      <p:ext uri="{BB962C8B-B14F-4D97-AF65-F5344CB8AC3E}">
        <p14:creationId xmlns:p14="http://schemas.microsoft.com/office/powerpoint/2010/main" val="2759507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0A890-5065-0AEB-BAE9-6636C6842414}"/>
              </a:ext>
            </a:extLst>
          </p:cNvPr>
          <p:cNvSpPr>
            <a:spLocks noGrp="1"/>
          </p:cNvSpPr>
          <p:nvPr>
            <p:ph type="title"/>
          </p:nvPr>
        </p:nvSpPr>
        <p:spPr>
          <a:xfrm>
            <a:off x="838200" y="0"/>
            <a:ext cx="10515600" cy="734002"/>
          </a:xfrm>
        </p:spPr>
        <p:txBody>
          <a:bodyPr>
            <a:noAutofit/>
          </a:bodyPr>
          <a:lstStyle/>
          <a:p>
            <a:r>
              <a:rPr lang="en-US" dirty="0">
                <a:solidFill>
                  <a:schemeClr val="bg1"/>
                </a:solidFill>
              </a:rPr>
              <a:t>Problem Statements</a:t>
            </a:r>
            <a:endParaRPr lang="en-IN" dirty="0">
              <a:solidFill>
                <a:schemeClr val="bg1"/>
              </a:solidFill>
            </a:endParaRPr>
          </a:p>
        </p:txBody>
      </p:sp>
      <p:graphicFrame>
        <p:nvGraphicFramePr>
          <p:cNvPr id="5" name="Diagram 4">
            <a:extLst>
              <a:ext uri="{FF2B5EF4-FFF2-40B4-BE49-F238E27FC236}">
                <a16:creationId xmlns:a16="http://schemas.microsoft.com/office/drawing/2014/main" id="{9DE6E6BF-5D7C-FC10-3476-4384C28C77A8}"/>
              </a:ext>
            </a:extLst>
          </p:cNvPr>
          <p:cNvGraphicFramePr/>
          <p:nvPr>
            <p:extLst>
              <p:ext uri="{D42A27DB-BD31-4B8C-83A1-F6EECF244321}">
                <p14:modId xmlns:p14="http://schemas.microsoft.com/office/powerpoint/2010/main" val="3499719233"/>
              </p:ext>
            </p:extLst>
          </p:nvPr>
        </p:nvGraphicFramePr>
        <p:xfrm>
          <a:off x="117987" y="719666"/>
          <a:ext cx="11887199" cy="59171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6108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A58A3-B7A8-E419-6304-A2E95D2EA222}"/>
              </a:ext>
            </a:extLst>
          </p:cNvPr>
          <p:cNvSpPr>
            <a:spLocks noGrp="1"/>
          </p:cNvSpPr>
          <p:nvPr>
            <p:ph type="title"/>
          </p:nvPr>
        </p:nvSpPr>
        <p:spPr/>
        <p:txBody>
          <a:bodyPr>
            <a:noAutofit/>
          </a:bodyPr>
          <a:lstStyle/>
          <a:p>
            <a:r>
              <a:rPr lang="en-US" dirty="0">
                <a:solidFill>
                  <a:schemeClr val="bg1"/>
                </a:solidFill>
              </a:rPr>
              <a:t>AI Automation Risk Trend Over Time</a:t>
            </a:r>
            <a:endParaRPr lang="en-IN" dirty="0">
              <a:solidFill>
                <a:schemeClr val="bg1"/>
              </a:solidFill>
            </a:endParaRPr>
          </a:p>
        </p:txBody>
      </p:sp>
      <p:pic>
        <p:nvPicPr>
          <p:cNvPr id="6" name="Picture 5">
            <a:extLst>
              <a:ext uri="{FF2B5EF4-FFF2-40B4-BE49-F238E27FC236}">
                <a16:creationId xmlns:a16="http://schemas.microsoft.com/office/drawing/2014/main" id="{967DD024-0F09-5D4D-4CBC-2D341E28B211}"/>
              </a:ext>
            </a:extLst>
          </p:cNvPr>
          <p:cNvPicPr>
            <a:picLocks noChangeAspect="1"/>
          </p:cNvPicPr>
          <p:nvPr/>
        </p:nvPicPr>
        <p:blipFill>
          <a:blip r:embed="rId2"/>
          <a:stretch>
            <a:fillRect/>
          </a:stretch>
        </p:blipFill>
        <p:spPr>
          <a:xfrm>
            <a:off x="6761820" y="2502743"/>
            <a:ext cx="4892598" cy="1793953"/>
          </a:xfrm>
          <a:prstGeom prst="rect">
            <a:avLst/>
          </a:prstGeom>
          <a:ln>
            <a:noFill/>
          </a:ln>
          <a:effectLst>
            <a:outerShdw blurRad="292100" dist="139700" dir="2700000" algn="tl" rotWithShape="0">
              <a:srgbClr val="333333">
                <a:alpha val="65000"/>
              </a:srgbClr>
            </a:outerShdw>
          </a:effectLst>
        </p:spPr>
      </p:pic>
      <p:sp>
        <p:nvSpPr>
          <p:cNvPr id="7" name="Rectangle 1">
            <a:extLst>
              <a:ext uri="{FF2B5EF4-FFF2-40B4-BE49-F238E27FC236}">
                <a16:creationId xmlns:a16="http://schemas.microsoft.com/office/drawing/2014/main" id="{3420F628-05E5-43D1-93F1-BBADE3310F12}"/>
              </a:ext>
            </a:extLst>
          </p:cNvPr>
          <p:cNvSpPr>
            <a:spLocks noGrp="1" noChangeArrowheads="1"/>
          </p:cNvSpPr>
          <p:nvPr>
            <p:ph idx="1"/>
          </p:nvPr>
        </p:nvSpPr>
        <p:spPr bwMode="auto">
          <a:xfrm>
            <a:off x="186813" y="1057920"/>
            <a:ext cx="5909187" cy="5576976"/>
          </a:xfrm>
          <a:prstGeom prst="rect">
            <a:avLst/>
          </a:prstGeo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Automation risk remains consistently elevated across industries over the observed period, indicating that AI-driven disruption is not a short-term fluctuation but a sustained structural shift.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While industries follow slightly different trajectories, the overall movement suggests convergence in risk exposure, implying that AI impact is becoming widespread rather than sector-specific.</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Temporary dips and recoveries in certain industries reflect adaptive responses such as digital transformation and reskilling efforts, yet the broader upward direction signals increasing long-term automation pressure.</a:t>
            </a:r>
          </a:p>
        </p:txBody>
      </p:sp>
    </p:spTree>
    <p:extLst>
      <p:ext uri="{BB962C8B-B14F-4D97-AF65-F5344CB8AC3E}">
        <p14:creationId xmlns:p14="http://schemas.microsoft.com/office/powerpoint/2010/main" val="604208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4BB8F-8532-54CA-178B-B7D6FB566C8F}"/>
              </a:ext>
            </a:extLst>
          </p:cNvPr>
          <p:cNvSpPr>
            <a:spLocks noGrp="1"/>
          </p:cNvSpPr>
          <p:nvPr>
            <p:ph type="title"/>
          </p:nvPr>
        </p:nvSpPr>
        <p:spPr/>
        <p:txBody>
          <a:bodyPr>
            <a:noAutofit/>
          </a:bodyPr>
          <a:lstStyle/>
          <a:p>
            <a:r>
              <a:rPr lang="en-US" dirty="0">
                <a:solidFill>
                  <a:schemeClr val="bg1"/>
                </a:solidFill>
              </a:rPr>
              <a:t>Industry vs Automation Risk</a:t>
            </a:r>
            <a:endParaRPr lang="en-IN" dirty="0">
              <a:solidFill>
                <a:schemeClr val="bg1"/>
              </a:solidFill>
            </a:endParaRPr>
          </a:p>
        </p:txBody>
      </p:sp>
      <p:pic>
        <p:nvPicPr>
          <p:cNvPr id="6" name="Picture 5">
            <a:extLst>
              <a:ext uri="{FF2B5EF4-FFF2-40B4-BE49-F238E27FC236}">
                <a16:creationId xmlns:a16="http://schemas.microsoft.com/office/drawing/2014/main" id="{A934F9B0-A54C-B9C1-B4D5-BD2A266B7962}"/>
              </a:ext>
            </a:extLst>
          </p:cNvPr>
          <p:cNvPicPr>
            <a:picLocks noChangeAspect="1"/>
          </p:cNvPicPr>
          <p:nvPr/>
        </p:nvPicPr>
        <p:blipFill>
          <a:blip r:embed="rId2"/>
          <a:stretch>
            <a:fillRect/>
          </a:stretch>
        </p:blipFill>
        <p:spPr>
          <a:xfrm>
            <a:off x="344321" y="2445347"/>
            <a:ext cx="3888307" cy="2234807"/>
          </a:xfrm>
          <a:prstGeom prst="rect">
            <a:avLst/>
          </a:prstGeom>
          <a:ln>
            <a:noFill/>
          </a:ln>
          <a:effectLst>
            <a:outerShdw blurRad="190500" algn="tl" rotWithShape="0">
              <a:srgbClr val="000000">
                <a:alpha val="70000"/>
              </a:srgbClr>
            </a:outerShdw>
          </a:effectLst>
        </p:spPr>
      </p:pic>
      <p:sp>
        <p:nvSpPr>
          <p:cNvPr id="7" name="Rectangle 1">
            <a:extLst>
              <a:ext uri="{FF2B5EF4-FFF2-40B4-BE49-F238E27FC236}">
                <a16:creationId xmlns:a16="http://schemas.microsoft.com/office/drawing/2014/main" id="{24F81D5E-8FFF-6C81-E2FB-5B2C9074E4E9}"/>
              </a:ext>
            </a:extLst>
          </p:cNvPr>
          <p:cNvSpPr>
            <a:spLocks noGrp="1" noChangeArrowheads="1"/>
          </p:cNvSpPr>
          <p:nvPr>
            <p:ph idx="1"/>
          </p:nvPr>
        </p:nvSpPr>
        <p:spPr bwMode="auto">
          <a:xfrm>
            <a:off x="5068908" y="1062711"/>
            <a:ext cx="6572128" cy="5576976"/>
          </a:xfrm>
          <a:prstGeom prst="rect">
            <a:avLst/>
          </a:prstGeom>
          <a:ln/>
        </p:spPr>
        <p:style>
          <a:lnRef idx="1">
            <a:schemeClr val="dk1"/>
          </a:lnRef>
          <a:fillRef idx="2">
            <a:schemeClr val="dk1"/>
          </a:fillRef>
          <a:effectRef idx="1">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b="0" i="0" u="none" strike="noStrike" cap="none" normalizeH="0" baseline="0" dirty="0">
                <a:ln>
                  <a:noFill/>
                </a:ln>
                <a:solidFill>
                  <a:schemeClr val="bg1"/>
                </a:solidFill>
                <a:effectLst/>
              </a:rPr>
              <a:t>Across industries, the distribution of low, medium, and high automation risk indicates that exposure is not isolated to a single sector but structurally embedded across finance, transportation, and technology.</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b="0" i="0" u="none" strike="noStrike" cap="none" normalizeH="0" baseline="0" dirty="0">
                <a:ln>
                  <a:noFill/>
                </a:ln>
                <a:solidFill>
                  <a:schemeClr val="bg1"/>
                </a:solidFill>
                <a:effectLst/>
              </a:rPr>
              <a:t>The presence of substantial medium- and high-risk segments within each industry suggests that automation vulnerability exists at the job-role level rather than uniformly across the entire sector.</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b="0" i="0" u="none" strike="noStrike" cap="none" normalizeH="0" baseline="0" dirty="0">
                <a:ln>
                  <a:noFill/>
                </a:ln>
                <a:solidFill>
                  <a:schemeClr val="bg1"/>
                </a:solidFill>
                <a:effectLst/>
              </a:rPr>
              <a:t>This pattern highlights the need for industry-specific workforce strategies, where organizations must identify high-risk roles internally instead of assuming broad sector-level immunity.</a:t>
            </a:r>
          </a:p>
        </p:txBody>
      </p:sp>
    </p:spTree>
    <p:extLst>
      <p:ext uri="{BB962C8B-B14F-4D97-AF65-F5344CB8AC3E}">
        <p14:creationId xmlns:p14="http://schemas.microsoft.com/office/powerpoint/2010/main" val="921424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E4BAD-915F-8B4F-4D77-749AB3D1EAF7}"/>
              </a:ext>
            </a:extLst>
          </p:cNvPr>
          <p:cNvSpPr>
            <a:spLocks noGrp="1"/>
          </p:cNvSpPr>
          <p:nvPr>
            <p:ph type="title"/>
          </p:nvPr>
        </p:nvSpPr>
        <p:spPr/>
        <p:txBody>
          <a:bodyPr>
            <a:noAutofit/>
          </a:bodyPr>
          <a:lstStyle/>
          <a:p>
            <a:r>
              <a:rPr lang="en-US" dirty="0">
                <a:solidFill>
                  <a:schemeClr val="bg1"/>
                </a:solidFill>
              </a:rPr>
              <a:t>Industry-wise Distribution of Salary Impact Levels</a:t>
            </a:r>
            <a:endParaRPr lang="en-IN" dirty="0">
              <a:solidFill>
                <a:schemeClr val="bg1"/>
              </a:solidFill>
            </a:endParaRPr>
          </a:p>
        </p:txBody>
      </p:sp>
      <p:pic>
        <p:nvPicPr>
          <p:cNvPr id="6" name="Picture 5">
            <a:extLst>
              <a:ext uri="{FF2B5EF4-FFF2-40B4-BE49-F238E27FC236}">
                <a16:creationId xmlns:a16="http://schemas.microsoft.com/office/drawing/2014/main" id="{EC7A7324-D4DB-6392-3B08-25FFEC8EFF4C}"/>
              </a:ext>
            </a:extLst>
          </p:cNvPr>
          <p:cNvPicPr>
            <a:picLocks noChangeAspect="1"/>
          </p:cNvPicPr>
          <p:nvPr/>
        </p:nvPicPr>
        <p:blipFill>
          <a:blip r:embed="rId2"/>
          <a:stretch>
            <a:fillRect/>
          </a:stretch>
        </p:blipFill>
        <p:spPr>
          <a:xfrm>
            <a:off x="7035681" y="907971"/>
            <a:ext cx="4613087" cy="1604552"/>
          </a:xfrm>
          <a:prstGeom prst="rect">
            <a:avLst/>
          </a:prstGeom>
          <a:ln>
            <a:noFill/>
          </a:ln>
          <a:effectLst>
            <a:outerShdw blurRad="292100" dist="139700" dir="2700000" algn="tl" rotWithShape="0">
              <a:srgbClr val="333333">
                <a:alpha val="65000"/>
              </a:srgbClr>
            </a:outerShdw>
          </a:effectLst>
        </p:spPr>
      </p:pic>
      <p:sp>
        <p:nvSpPr>
          <p:cNvPr id="7" name="Rectangle 1">
            <a:extLst>
              <a:ext uri="{FF2B5EF4-FFF2-40B4-BE49-F238E27FC236}">
                <a16:creationId xmlns:a16="http://schemas.microsoft.com/office/drawing/2014/main" id="{885433FD-B675-29DF-D7A1-1CD796F75BAA}"/>
              </a:ext>
            </a:extLst>
          </p:cNvPr>
          <p:cNvSpPr>
            <a:spLocks noGrp="1" noChangeArrowheads="1"/>
          </p:cNvSpPr>
          <p:nvPr>
            <p:ph idx="1"/>
          </p:nvPr>
        </p:nvSpPr>
        <p:spPr bwMode="auto">
          <a:xfrm>
            <a:off x="257175" y="2571515"/>
            <a:ext cx="9398102" cy="4191981"/>
          </a:xfrm>
          <a:prstGeom prst="rect">
            <a:avLst/>
          </a:prstGeom>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Salary outcomes across industries appear relatively balanced between increases, decreases, and no-change categories, suggesting that AI adoption is not triggering uniform wage disruption.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The coexistence of salary growth and decline within the same industries indicates differentiated impact at the role level, where high-skill positions may benefit while routine roles face downward pressure.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This distribution reinforces the idea that AI is reshaping compensation structures selectively, emphasizing skill intensity and adaptability rather than broadly suppressing wages across sectors.</a:t>
            </a:r>
          </a:p>
        </p:txBody>
      </p:sp>
    </p:spTree>
    <p:extLst>
      <p:ext uri="{BB962C8B-B14F-4D97-AF65-F5344CB8AC3E}">
        <p14:creationId xmlns:p14="http://schemas.microsoft.com/office/powerpoint/2010/main" val="611921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BD3AA-21B3-E171-DCFC-D9D9C62D8ED3}"/>
              </a:ext>
            </a:extLst>
          </p:cNvPr>
          <p:cNvSpPr>
            <a:spLocks noGrp="1"/>
          </p:cNvSpPr>
          <p:nvPr>
            <p:ph type="title"/>
          </p:nvPr>
        </p:nvSpPr>
        <p:spPr>
          <a:xfrm>
            <a:off x="459658" y="122583"/>
            <a:ext cx="11166987" cy="734002"/>
          </a:xfrm>
        </p:spPr>
        <p:txBody>
          <a:bodyPr>
            <a:noAutofit/>
          </a:bodyPr>
          <a:lstStyle/>
          <a:p>
            <a:r>
              <a:rPr lang="en-US" dirty="0">
                <a:solidFill>
                  <a:schemeClr val="bg1"/>
                </a:solidFill>
              </a:rPr>
              <a:t>Salary Impact Distribution Across AI Adoption Levels</a:t>
            </a:r>
            <a:endParaRPr lang="en-IN" dirty="0">
              <a:solidFill>
                <a:schemeClr val="bg1"/>
              </a:solidFill>
            </a:endParaRPr>
          </a:p>
        </p:txBody>
      </p:sp>
      <p:sp>
        <p:nvSpPr>
          <p:cNvPr id="5" name="Rectangle 1">
            <a:extLst>
              <a:ext uri="{FF2B5EF4-FFF2-40B4-BE49-F238E27FC236}">
                <a16:creationId xmlns:a16="http://schemas.microsoft.com/office/drawing/2014/main" id="{4A2A1EC6-B282-7632-205A-D5523E792200}"/>
              </a:ext>
            </a:extLst>
          </p:cNvPr>
          <p:cNvSpPr>
            <a:spLocks noGrp="1" noChangeArrowheads="1"/>
          </p:cNvSpPr>
          <p:nvPr>
            <p:ph idx="1"/>
          </p:nvPr>
        </p:nvSpPr>
        <p:spPr bwMode="auto">
          <a:xfrm>
            <a:off x="565355" y="3667290"/>
            <a:ext cx="11061290" cy="2806987"/>
          </a:xfrm>
          <a:prstGeom prst="rect">
            <a:avLst/>
          </a:prstGeom>
          <a:ln/>
        </p:spPr>
        <p:style>
          <a:lnRef idx="1">
            <a:schemeClr val="accent5"/>
          </a:lnRef>
          <a:fillRef idx="3">
            <a:schemeClr val="accent5"/>
          </a:fillRef>
          <a:effectRef idx="2">
            <a:schemeClr val="accent5"/>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Salary impact categories remain distributed across all levels of AI adoption, indicating that higher adoption does not automatically translate into uniform salary decline or growth.</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The presence of both salary increases and decreases even at higher adoption levels suggests that AI rewards roles aligned with emerging skills while simultaneously displacing routine functions.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This pattern implies that AI adoption acts as a differentiator rather than a direct suppressor of wages, reinforcing the importance of skill alignment in determining compensation outcomes.</a:t>
            </a:r>
          </a:p>
        </p:txBody>
      </p:sp>
      <p:pic>
        <p:nvPicPr>
          <p:cNvPr id="7" name="Picture 6">
            <a:extLst>
              <a:ext uri="{FF2B5EF4-FFF2-40B4-BE49-F238E27FC236}">
                <a16:creationId xmlns:a16="http://schemas.microsoft.com/office/drawing/2014/main" id="{D6D5C807-4738-DF44-D6E2-E6CCA548ACBE}"/>
              </a:ext>
            </a:extLst>
          </p:cNvPr>
          <p:cNvPicPr>
            <a:picLocks noChangeAspect="1"/>
          </p:cNvPicPr>
          <p:nvPr/>
        </p:nvPicPr>
        <p:blipFill>
          <a:blip r:embed="rId2"/>
          <a:stretch>
            <a:fillRect/>
          </a:stretch>
        </p:blipFill>
        <p:spPr>
          <a:xfrm>
            <a:off x="3013175" y="1441565"/>
            <a:ext cx="5668708" cy="19874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05714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EBE13-290F-A6D5-2ED0-19B07D84F310}"/>
              </a:ext>
            </a:extLst>
          </p:cNvPr>
          <p:cNvSpPr>
            <a:spLocks noGrp="1"/>
          </p:cNvSpPr>
          <p:nvPr>
            <p:ph type="title"/>
          </p:nvPr>
        </p:nvSpPr>
        <p:spPr/>
        <p:txBody>
          <a:bodyPr>
            <a:noAutofit/>
          </a:bodyPr>
          <a:lstStyle/>
          <a:p>
            <a:r>
              <a:rPr lang="en-US" dirty="0">
                <a:solidFill>
                  <a:schemeClr val="bg1"/>
                </a:solidFill>
              </a:rPr>
              <a:t>Salary Impact Distribution</a:t>
            </a:r>
            <a:endParaRPr lang="en-IN" dirty="0">
              <a:solidFill>
                <a:schemeClr val="bg1"/>
              </a:solidFill>
            </a:endParaRPr>
          </a:p>
        </p:txBody>
      </p:sp>
      <p:pic>
        <p:nvPicPr>
          <p:cNvPr id="6" name="Picture 5">
            <a:extLst>
              <a:ext uri="{FF2B5EF4-FFF2-40B4-BE49-F238E27FC236}">
                <a16:creationId xmlns:a16="http://schemas.microsoft.com/office/drawing/2014/main" id="{CC97B496-F0BB-73DB-F062-FF608EA67B90}"/>
              </a:ext>
            </a:extLst>
          </p:cNvPr>
          <p:cNvPicPr>
            <a:picLocks noChangeAspect="1"/>
          </p:cNvPicPr>
          <p:nvPr/>
        </p:nvPicPr>
        <p:blipFill>
          <a:blip r:embed="rId2"/>
          <a:stretch>
            <a:fillRect/>
          </a:stretch>
        </p:blipFill>
        <p:spPr>
          <a:xfrm>
            <a:off x="8375269" y="2383396"/>
            <a:ext cx="2978531" cy="2385247"/>
          </a:xfrm>
          <a:prstGeom prst="rect">
            <a:avLst/>
          </a:prstGeom>
        </p:spPr>
      </p:pic>
      <p:sp>
        <p:nvSpPr>
          <p:cNvPr id="7" name="Rectangle 1">
            <a:extLst>
              <a:ext uri="{FF2B5EF4-FFF2-40B4-BE49-F238E27FC236}">
                <a16:creationId xmlns:a16="http://schemas.microsoft.com/office/drawing/2014/main" id="{812670A0-81F4-0A2B-F058-C36D6FCD52EC}"/>
              </a:ext>
            </a:extLst>
          </p:cNvPr>
          <p:cNvSpPr>
            <a:spLocks noGrp="1" noChangeArrowheads="1"/>
          </p:cNvSpPr>
          <p:nvPr>
            <p:ph idx="1"/>
          </p:nvPr>
        </p:nvSpPr>
        <p:spPr bwMode="auto">
          <a:xfrm>
            <a:off x="495533" y="1352434"/>
            <a:ext cx="6634162" cy="5115311"/>
          </a:xfrm>
          <a:prstGeom prst="rect">
            <a:avLst/>
          </a:prstGeo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bg1"/>
                </a:solidFill>
                <a:effectLst/>
              </a:rPr>
              <a:t>The overall distribution shows a near-balanced split between salary decreases and stable outcomes, indicating that AI-driven disruption is significant but not universally negative.</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bg1"/>
                </a:solidFill>
                <a:effectLst/>
              </a:rPr>
              <a:t>The absence of extreme imbalance suggests that workforce impact is transitional rather than catastrophic, with many roles maintaining compensation stability despite automation pressures.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bg1"/>
                </a:solidFill>
                <a:effectLst/>
              </a:rPr>
              <a:t>This equilibrium highlights a critical insight: AI adoption is reshaping job structures gradually, where wage pressure is concentrated in specific roles rather than uniformly affecting the entire labor market.</a:t>
            </a:r>
          </a:p>
        </p:txBody>
      </p:sp>
    </p:spTree>
    <p:extLst>
      <p:ext uri="{BB962C8B-B14F-4D97-AF65-F5344CB8AC3E}">
        <p14:creationId xmlns:p14="http://schemas.microsoft.com/office/powerpoint/2010/main" val="2135037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BC0C7-26A9-CB29-986F-D144428456C7}"/>
              </a:ext>
            </a:extLst>
          </p:cNvPr>
          <p:cNvSpPr>
            <a:spLocks noGrp="1"/>
          </p:cNvSpPr>
          <p:nvPr>
            <p:ph type="title"/>
          </p:nvPr>
        </p:nvSpPr>
        <p:spPr/>
        <p:txBody>
          <a:bodyPr>
            <a:noAutofit/>
          </a:bodyPr>
          <a:lstStyle/>
          <a:p>
            <a:r>
              <a:rPr lang="en-US" dirty="0">
                <a:solidFill>
                  <a:schemeClr val="bg1"/>
                </a:solidFill>
              </a:rPr>
              <a:t>Industry vs Salary Change (%)</a:t>
            </a:r>
            <a:endParaRPr lang="en-IN" dirty="0">
              <a:solidFill>
                <a:schemeClr val="bg1"/>
              </a:solidFill>
            </a:endParaRPr>
          </a:p>
        </p:txBody>
      </p:sp>
      <p:pic>
        <p:nvPicPr>
          <p:cNvPr id="6" name="Picture 5">
            <a:extLst>
              <a:ext uri="{FF2B5EF4-FFF2-40B4-BE49-F238E27FC236}">
                <a16:creationId xmlns:a16="http://schemas.microsoft.com/office/drawing/2014/main" id="{8CA90624-2785-855E-CFF8-DAD0041B9F67}"/>
              </a:ext>
            </a:extLst>
          </p:cNvPr>
          <p:cNvPicPr>
            <a:picLocks noChangeAspect="1"/>
          </p:cNvPicPr>
          <p:nvPr/>
        </p:nvPicPr>
        <p:blipFill>
          <a:blip r:embed="rId2"/>
          <a:stretch>
            <a:fillRect/>
          </a:stretch>
        </p:blipFill>
        <p:spPr>
          <a:xfrm>
            <a:off x="533500" y="2488727"/>
            <a:ext cx="4983821" cy="2161931"/>
          </a:xfrm>
          <a:prstGeom prst="rect">
            <a:avLst/>
          </a:prstGeom>
          <a:ln>
            <a:noFill/>
          </a:ln>
          <a:effectLst>
            <a:outerShdw blurRad="190500" algn="tl" rotWithShape="0">
              <a:srgbClr val="000000">
                <a:alpha val="70000"/>
              </a:srgbClr>
            </a:outerShdw>
          </a:effectLst>
        </p:spPr>
      </p:pic>
      <p:sp>
        <p:nvSpPr>
          <p:cNvPr id="7" name="Rectangle 1">
            <a:extLst>
              <a:ext uri="{FF2B5EF4-FFF2-40B4-BE49-F238E27FC236}">
                <a16:creationId xmlns:a16="http://schemas.microsoft.com/office/drawing/2014/main" id="{ECF959C3-0298-A6EE-3A0F-9E2969B1B496}"/>
              </a:ext>
            </a:extLst>
          </p:cNvPr>
          <p:cNvSpPr>
            <a:spLocks noGrp="1" noChangeArrowheads="1"/>
          </p:cNvSpPr>
          <p:nvPr>
            <p:ph idx="1"/>
          </p:nvPr>
        </p:nvSpPr>
        <p:spPr bwMode="auto">
          <a:xfrm>
            <a:off x="5879690" y="1199807"/>
            <a:ext cx="5683045" cy="4653646"/>
          </a:xfrm>
          <a:prstGeom prst="rect">
            <a:avLst/>
          </a:prstGeom>
          <a:ln/>
        </p:spPr>
        <p:style>
          <a:lnRef idx="2">
            <a:schemeClr val="accent6">
              <a:shade val="15000"/>
            </a:schemeClr>
          </a:lnRef>
          <a:fillRef idx="1">
            <a:schemeClr val="accent6"/>
          </a:fillRef>
          <a:effectRef idx="0">
            <a:schemeClr val="accent6"/>
          </a:effectRef>
          <a:fontRef idx="minor">
            <a:schemeClr val="lt1"/>
          </a:fontRef>
        </p:style>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bg1"/>
                </a:solidFill>
                <a:effectLst/>
              </a:rPr>
              <a:t>Salary structures across industries remain largely stable, reflecting an emphasis on maintaining consistency rather than making significant adjustments.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bg1"/>
                </a:solidFill>
                <a:effectLst/>
              </a:rPr>
              <a:t>Reductions in pay are evident across all sectors, pointing to a broad market trend shaped by wider economic pressures.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bg1"/>
                </a:solidFill>
                <a:effectLst/>
              </a:rPr>
              <a:t>No sector shows signs of salary growth, underscoring a cautious approach by employers focused on cost control and risk management. </a:t>
            </a:r>
          </a:p>
        </p:txBody>
      </p:sp>
    </p:spTree>
    <p:extLst>
      <p:ext uri="{BB962C8B-B14F-4D97-AF65-F5344CB8AC3E}">
        <p14:creationId xmlns:p14="http://schemas.microsoft.com/office/powerpoint/2010/main" val="26568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C6F24-DCC0-406F-159B-BC9FD58B9448}"/>
              </a:ext>
            </a:extLst>
          </p:cNvPr>
          <p:cNvSpPr>
            <a:spLocks noGrp="1"/>
          </p:cNvSpPr>
          <p:nvPr>
            <p:ph type="title"/>
          </p:nvPr>
        </p:nvSpPr>
        <p:spPr/>
        <p:txBody>
          <a:bodyPr>
            <a:noAutofit/>
          </a:bodyPr>
          <a:lstStyle/>
          <a:p>
            <a:r>
              <a:rPr lang="en-US" dirty="0">
                <a:solidFill>
                  <a:schemeClr val="bg1"/>
                </a:solidFill>
              </a:rPr>
              <a:t>Skill Gap vs Automation Risk</a:t>
            </a:r>
            <a:endParaRPr lang="en-IN" dirty="0">
              <a:solidFill>
                <a:schemeClr val="bg1"/>
              </a:solidFill>
            </a:endParaRPr>
          </a:p>
        </p:txBody>
      </p:sp>
      <p:sp>
        <p:nvSpPr>
          <p:cNvPr id="5" name="Rectangle 1">
            <a:extLst>
              <a:ext uri="{FF2B5EF4-FFF2-40B4-BE49-F238E27FC236}">
                <a16:creationId xmlns:a16="http://schemas.microsoft.com/office/drawing/2014/main" id="{8B57BD8D-3A75-5ACE-737F-C894B37DCCF3}"/>
              </a:ext>
            </a:extLst>
          </p:cNvPr>
          <p:cNvSpPr>
            <a:spLocks noGrp="1" noChangeArrowheads="1"/>
          </p:cNvSpPr>
          <p:nvPr>
            <p:ph idx="1"/>
          </p:nvPr>
        </p:nvSpPr>
        <p:spPr bwMode="auto">
          <a:xfrm>
            <a:off x="422787" y="1809709"/>
            <a:ext cx="5673213" cy="4653646"/>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b="0" i="0" u="none" strike="noStrike" cap="none" normalizeH="0" baseline="0" dirty="0">
                <a:ln>
                  <a:noFill/>
                </a:ln>
                <a:solidFill>
                  <a:schemeClr val="bg1"/>
                </a:solidFill>
                <a:effectLst/>
              </a:rPr>
              <a:t>Industries cluster into distinct groups of automation risk, showing that some sectors face significantly higher exposure to automation than others.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b="0" i="0" u="none" strike="noStrike" cap="none" normalizeH="0" baseline="0" dirty="0">
                <a:ln>
                  <a:noFill/>
                </a:ln>
                <a:solidFill>
                  <a:schemeClr val="bg1"/>
                </a:solidFill>
                <a:effectLst/>
              </a:rPr>
              <a:t>Skill gaps remain evident across all industries, highlighting the need for continuous workforce development regardless of automation risk levels.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b="0" i="0" u="none" strike="noStrike" cap="none" normalizeH="0" baseline="0" dirty="0">
                <a:ln>
                  <a:noFill/>
                </a:ln>
                <a:solidFill>
                  <a:schemeClr val="bg1"/>
                </a:solidFill>
                <a:effectLst/>
              </a:rPr>
              <a:t>The combination of high automation risk and notable skill gaps in certain sectors signals urgent priority areas for reskilling and adaptation strategies. </a:t>
            </a:r>
          </a:p>
        </p:txBody>
      </p:sp>
      <p:pic>
        <p:nvPicPr>
          <p:cNvPr id="7" name="Picture 6">
            <a:extLst>
              <a:ext uri="{FF2B5EF4-FFF2-40B4-BE49-F238E27FC236}">
                <a16:creationId xmlns:a16="http://schemas.microsoft.com/office/drawing/2014/main" id="{EDC521C7-DF13-08FB-B697-C45ED6C11154}"/>
              </a:ext>
            </a:extLst>
          </p:cNvPr>
          <p:cNvPicPr>
            <a:picLocks noChangeAspect="1"/>
          </p:cNvPicPr>
          <p:nvPr/>
        </p:nvPicPr>
        <p:blipFill>
          <a:blip r:embed="rId2"/>
          <a:stretch>
            <a:fillRect/>
          </a:stretch>
        </p:blipFill>
        <p:spPr>
          <a:xfrm>
            <a:off x="6296665" y="2330819"/>
            <a:ext cx="5708544" cy="1828226"/>
          </a:xfrm>
          <a:prstGeom prst="rect">
            <a:avLst/>
          </a:prstGeom>
        </p:spPr>
      </p:pic>
    </p:spTree>
    <p:extLst>
      <p:ext uri="{BB962C8B-B14F-4D97-AF65-F5344CB8AC3E}">
        <p14:creationId xmlns:p14="http://schemas.microsoft.com/office/powerpoint/2010/main" val="1986385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CBE3-5D3D-14B5-07D6-79A5D036342A}"/>
              </a:ext>
            </a:extLst>
          </p:cNvPr>
          <p:cNvSpPr>
            <a:spLocks noGrp="1"/>
          </p:cNvSpPr>
          <p:nvPr>
            <p:ph type="title"/>
          </p:nvPr>
        </p:nvSpPr>
        <p:spPr/>
        <p:txBody>
          <a:bodyPr>
            <a:noAutofit/>
          </a:bodyPr>
          <a:lstStyle/>
          <a:p>
            <a:r>
              <a:rPr lang="en-US" dirty="0">
                <a:solidFill>
                  <a:schemeClr val="bg1"/>
                </a:solidFill>
              </a:rPr>
              <a:t>Key Insights</a:t>
            </a:r>
            <a:endParaRPr lang="en-IN" dirty="0">
              <a:solidFill>
                <a:schemeClr val="bg1"/>
              </a:solidFill>
            </a:endParaRPr>
          </a:p>
        </p:txBody>
      </p:sp>
      <p:sp>
        <p:nvSpPr>
          <p:cNvPr id="5" name="Rectangle 1">
            <a:extLst>
              <a:ext uri="{FF2B5EF4-FFF2-40B4-BE49-F238E27FC236}">
                <a16:creationId xmlns:a16="http://schemas.microsoft.com/office/drawing/2014/main" id="{9BB50CAC-5F84-45D4-12C4-BB39FD974EC3}"/>
              </a:ext>
            </a:extLst>
          </p:cNvPr>
          <p:cNvSpPr>
            <a:spLocks noGrp="1" noChangeArrowheads="1"/>
          </p:cNvSpPr>
          <p:nvPr>
            <p:ph idx="1"/>
          </p:nvPr>
        </p:nvSpPr>
        <p:spPr bwMode="auto">
          <a:xfrm>
            <a:off x="680321" y="2733037"/>
            <a:ext cx="10955670" cy="2806987"/>
          </a:xfrm>
          <a:prstGeom prst="rect">
            <a:avLst/>
          </a:prstGeo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bg1"/>
                </a:solidFill>
                <a:effectLst/>
              </a:rPr>
              <a:t>Industries cluster into distinct groups of automation risk, showing that some sectors face significantly higher exposure to automation than others.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bg1"/>
                </a:solidFill>
                <a:effectLst/>
              </a:rPr>
              <a:t>Skill gaps remain evident across all industries, highlighting the need for continuous workforce development regardless of automation risk levels.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bg1"/>
                </a:solidFill>
                <a:effectLst/>
              </a:rPr>
              <a:t>The combination of high automation risk and notable skill gaps in certain sectors signals urgent priority areas for reskilling and adaptation strategies. </a:t>
            </a:r>
          </a:p>
        </p:txBody>
      </p:sp>
    </p:spTree>
    <p:extLst>
      <p:ext uri="{BB962C8B-B14F-4D97-AF65-F5344CB8AC3E}">
        <p14:creationId xmlns:p14="http://schemas.microsoft.com/office/powerpoint/2010/main" val="2235855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D69F7-6CA4-17CA-BEB1-C2A49AD704C9}"/>
              </a:ext>
            </a:extLst>
          </p:cNvPr>
          <p:cNvSpPr>
            <a:spLocks noGrp="1"/>
          </p:cNvSpPr>
          <p:nvPr>
            <p:ph type="title"/>
          </p:nvPr>
        </p:nvSpPr>
        <p:spPr/>
        <p:txBody>
          <a:bodyPr>
            <a:noAutofit/>
          </a:bodyPr>
          <a:lstStyle/>
          <a:p>
            <a:r>
              <a:rPr lang="en-US" dirty="0">
                <a:solidFill>
                  <a:schemeClr val="bg1"/>
                </a:solidFill>
              </a:rPr>
              <a:t>Final Dashboard</a:t>
            </a:r>
            <a:endParaRPr lang="en-IN" dirty="0">
              <a:solidFill>
                <a:schemeClr val="bg1"/>
              </a:solidFill>
            </a:endParaRPr>
          </a:p>
        </p:txBody>
      </p:sp>
      <p:pic>
        <p:nvPicPr>
          <p:cNvPr id="6" name="Picture 5">
            <a:extLst>
              <a:ext uri="{FF2B5EF4-FFF2-40B4-BE49-F238E27FC236}">
                <a16:creationId xmlns:a16="http://schemas.microsoft.com/office/drawing/2014/main" id="{E632E459-01B7-A4AE-9B6C-9C854DB231CA}"/>
              </a:ext>
            </a:extLst>
          </p:cNvPr>
          <p:cNvPicPr>
            <a:picLocks noChangeAspect="1"/>
          </p:cNvPicPr>
          <p:nvPr/>
        </p:nvPicPr>
        <p:blipFill>
          <a:blip r:embed="rId2"/>
          <a:stretch>
            <a:fillRect/>
          </a:stretch>
        </p:blipFill>
        <p:spPr>
          <a:xfrm>
            <a:off x="216309" y="1066436"/>
            <a:ext cx="11769213" cy="569847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6870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7E516-4D24-9A28-191B-A3AFF37E32D3}"/>
              </a:ext>
            </a:extLst>
          </p:cNvPr>
          <p:cNvSpPr>
            <a:spLocks noGrp="1"/>
          </p:cNvSpPr>
          <p:nvPr>
            <p:ph type="title"/>
          </p:nvPr>
        </p:nvSpPr>
        <p:spPr/>
        <p:txBody>
          <a:bodyPr>
            <a:noAutofit/>
          </a:bodyPr>
          <a:lstStyle/>
          <a:p>
            <a:r>
              <a:rPr lang="en-US" dirty="0">
                <a:solidFill>
                  <a:schemeClr val="bg1"/>
                </a:solidFill>
              </a:rPr>
              <a:t>Recommendations</a:t>
            </a:r>
            <a:endParaRPr lang="en-IN" dirty="0">
              <a:solidFill>
                <a:schemeClr val="bg1"/>
              </a:solidFill>
            </a:endParaRPr>
          </a:p>
        </p:txBody>
      </p:sp>
      <p:graphicFrame>
        <p:nvGraphicFramePr>
          <p:cNvPr id="5" name="Content Placeholder 4">
            <a:extLst>
              <a:ext uri="{FF2B5EF4-FFF2-40B4-BE49-F238E27FC236}">
                <a16:creationId xmlns:a16="http://schemas.microsoft.com/office/drawing/2014/main" id="{232E4D2D-4178-188F-9F46-41E60936A4EF}"/>
              </a:ext>
            </a:extLst>
          </p:cNvPr>
          <p:cNvGraphicFramePr>
            <a:graphicFrameLocks noGrp="1"/>
          </p:cNvGraphicFramePr>
          <p:nvPr>
            <p:ph idx="1"/>
            <p:extLst>
              <p:ext uri="{D42A27DB-BD31-4B8C-83A1-F6EECF244321}">
                <p14:modId xmlns:p14="http://schemas.microsoft.com/office/powerpoint/2010/main" val="2335050048"/>
              </p:ext>
            </p:extLst>
          </p:nvPr>
        </p:nvGraphicFramePr>
        <p:xfrm>
          <a:off x="314631" y="1120878"/>
          <a:ext cx="11474245" cy="56440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38594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C9950-AE13-8CF2-A9A8-EF0ABC34A86B}"/>
              </a:ext>
            </a:extLst>
          </p:cNvPr>
          <p:cNvSpPr>
            <a:spLocks noGrp="1"/>
          </p:cNvSpPr>
          <p:nvPr>
            <p:ph type="title"/>
          </p:nvPr>
        </p:nvSpPr>
        <p:spPr/>
        <p:txBody>
          <a:bodyPr>
            <a:noAutofit/>
          </a:bodyPr>
          <a:lstStyle/>
          <a:p>
            <a:r>
              <a:rPr lang="en-US" dirty="0">
                <a:solidFill>
                  <a:schemeClr val="bg1"/>
                </a:solidFill>
              </a:rPr>
              <a:t>Conclusion</a:t>
            </a:r>
            <a:endParaRPr lang="en-IN" dirty="0">
              <a:solidFill>
                <a:schemeClr val="bg1"/>
              </a:solidFill>
            </a:endParaRPr>
          </a:p>
        </p:txBody>
      </p:sp>
      <p:graphicFrame>
        <p:nvGraphicFramePr>
          <p:cNvPr id="5" name="Diagram 4">
            <a:extLst>
              <a:ext uri="{FF2B5EF4-FFF2-40B4-BE49-F238E27FC236}">
                <a16:creationId xmlns:a16="http://schemas.microsoft.com/office/drawing/2014/main" id="{47A8E89C-2A97-57F0-A070-9EA408BBDB14}"/>
              </a:ext>
            </a:extLst>
          </p:cNvPr>
          <p:cNvGraphicFramePr/>
          <p:nvPr>
            <p:extLst>
              <p:ext uri="{D42A27DB-BD31-4B8C-83A1-F6EECF244321}">
                <p14:modId xmlns:p14="http://schemas.microsoft.com/office/powerpoint/2010/main" val="4225124588"/>
              </p:ext>
            </p:extLst>
          </p:nvPr>
        </p:nvGraphicFramePr>
        <p:xfrm>
          <a:off x="521110" y="719666"/>
          <a:ext cx="10832690" cy="58286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68560096"/>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6A9C41"/>
      </a:dk2>
      <a:lt2>
        <a:srgbClr val="E7E6E6"/>
      </a:lt2>
      <a:accent1>
        <a:srgbClr val="A7D535"/>
      </a:accent1>
      <a:accent2>
        <a:srgbClr val="EACA4F"/>
      </a:accent2>
      <a:accent3>
        <a:srgbClr val="FD9850"/>
      </a:accent3>
      <a:accent4>
        <a:srgbClr val="F46442"/>
      </a:accent4>
      <a:accent5>
        <a:srgbClr val="54D289"/>
      </a:accent5>
      <a:accent6>
        <a:srgbClr val="6AD8CB"/>
      </a:accent6>
      <a:hlink>
        <a:srgbClr val="CAFB50"/>
      </a:hlink>
      <a:folHlink>
        <a:srgbClr val="DEFF8B"/>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38000"/>
              </a:schemeClr>
            </a:gs>
            <a:gs pos="50000">
              <a:schemeClr val="phClr">
                <a:shade val="100000"/>
                <a:hueMod val="100000"/>
                <a:satMod val="110000"/>
                <a:lumMod val="130000"/>
              </a:schemeClr>
            </a:gs>
            <a:gs pos="100000">
              <a:schemeClr val="phClr">
                <a:shade val="78000"/>
                <a:hueMod val="106000"/>
                <a:satMod val="120000"/>
                <a:lumMod val="7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B587E4A9-1405-4B4F-8BC3-512EE08D2EBF}"/>
    </a:ext>
  </a:extLst>
</a:theme>
</file>

<file path=docProps/app.xml><?xml version="1.0" encoding="utf-8"?>
<Properties xmlns="http://schemas.openxmlformats.org/officeDocument/2006/extended-properties" xmlns:vt="http://schemas.openxmlformats.org/officeDocument/2006/docPropsVTypes">
  <Template>TM04033917[[fn=Berlin]]</Template>
  <TotalTime>157</TotalTime>
  <Words>1186</Words>
  <Application>Microsoft Office PowerPoint</Application>
  <PresentationFormat>Widescreen</PresentationFormat>
  <Paragraphs>62</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Times New Roman</vt:lpstr>
      <vt:lpstr>Trebuchet MS</vt:lpstr>
      <vt:lpstr>Wingdings</vt:lpstr>
      <vt:lpstr>Berlin</vt:lpstr>
      <vt:lpstr>PowerPoint Presentation</vt:lpstr>
      <vt:lpstr>Introduction</vt:lpstr>
      <vt:lpstr>About the Dataset</vt:lpstr>
      <vt:lpstr>Study Objectives</vt:lpstr>
      <vt:lpstr>Problem Statements</vt:lpstr>
      <vt:lpstr>AI Automation Risk Trend Over Time</vt:lpstr>
      <vt:lpstr>Industry vs Automation Risk</vt:lpstr>
      <vt:lpstr>Industry-wise Distribution of Salary Impact Levels</vt:lpstr>
      <vt:lpstr>Salary Impact Distribution Across AI Adoption Levels</vt:lpstr>
      <vt:lpstr>Salary Impact Distribution</vt:lpstr>
      <vt:lpstr>Industry vs Salary Change (%)</vt:lpstr>
      <vt:lpstr>Skill Gap vs Automation Risk</vt:lpstr>
      <vt:lpstr>Key Insights</vt:lpstr>
      <vt:lpstr>Final Dashboard</vt:lpstr>
      <vt:lpstr>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Debarun Banerjee</dc:creator>
  <cp:lastModifiedBy>Debarun Banerjee</cp:lastModifiedBy>
  <cp:revision>34</cp:revision>
  <dcterms:created xsi:type="dcterms:W3CDTF">2026-02-27T07:26:35Z</dcterms:created>
  <dcterms:modified xsi:type="dcterms:W3CDTF">2026-02-27T13:03:09Z</dcterms:modified>
</cp:coreProperties>
</file>